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8" r:id="rId7"/>
    <p:sldId id="269" r:id="rId8"/>
    <p:sldId id="275" r:id="rId9"/>
    <p:sldId id="262" r:id="rId10"/>
    <p:sldId id="270" r:id="rId11"/>
    <p:sldId id="263" r:id="rId12"/>
    <p:sldId id="271" r:id="rId13"/>
    <p:sldId id="272" r:id="rId14"/>
    <p:sldId id="273" r:id="rId15"/>
    <p:sldId id="274"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384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9" roundtripDataSignature="AMtx7mhwFtSVbGuJV/qfevJIX9vJKe0k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21E2DA5-FD08-45D3-B0BC-DFD3291398F7}">
  <a:tblStyle styleId="{E21E2DA5-FD08-45D3-B0BC-DFD3291398F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660"/>
  </p:normalViewPr>
  <p:slideViewPr>
    <p:cSldViewPr snapToGrid="0">
      <p:cViewPr varScale="1">
        <p:scale>
          <a:sx n="78" d="100"/>
          <a:sy n="78" d="100"/>
        </p:scale>
        <p:origin x="869" y="7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 name="Google Shape;84;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6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 name="Google Shape;95;p6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3a02e1ac065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3a02e1ac065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endParaRPr dirty="0"/>
          </a:p>
        </p:txBody>
      </p:sp>
      <p:sp>
        <p:nvSpPr>
          <p:cNvPr id="104" name="Google Shape;104;g3a02e1ac065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3a02e1ac065_0_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3a02e1ac065_0_1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1200"/>
              </a:spcBef>
              <a:spcAft>
                <a:spcPts val="0"/>
              </a:spcAft>
              <a:buNone/>
            </a:pPr>
            <a:endParaRPr dirty="0"/>
          </a:p>
        </p:txBody>
      </p:sp>
      <p:sp>
        <p:nvSpPr>
          <p:cNvPr id="112" name="Google Shape;112;g3a02e1ac065_0_1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3a02e1ac065_0_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3a02e1ac065_0_2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endParaRPr dirty="0"/>
          </a:p>
        </p:txBody>
      </p:sp>
      <p:sp>
        <p:nvSpPr>
          <p:cNvPr id="120" name="Google Shape;120;g3a02e1ac065_0_2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432A9224-5ADA-CFEA-D59E-CF13E6A85596}"/>
            </a:ext>
          </a:extLst>
        </p:cNvPr>
        <p:cNvGrpSpPr/>
        <p:nvPr/>
      </p:nvGrpSpPr>
      <p:grpSpPr>
        <a:xfrm>
          <a:off x="0" y="0"/>
          <a:ext cx="0" cy="0"/>
          <a:chOff x="0" y="0"/>
          <a:chExt cx="0" cy="0"/>
        </a:xfrm>
      </p:grpSpPr>
      <p:sp>
        <p:nvSpPr>
          <p:cNvPr id="118" name="Google Shape;118;g3a02e1ac065_0_21:notes">
            <a:extLst>
              <a:ext uri="{FF2B5EF4-FFF2-40B4-BE49-F238E27FC236}">
                <a16:creationId xmlns:a16="http://schemas.microsoft.com/office/drawing/2014/main" id="{E925E238-D5C1-E0A0-D757-1AD69B7FE05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3a02e1ac065_0_21:notes">
            <a:extLst>
              <a:ext uri="{FF2B5EF4-FFF2-40B4-BE49-F238E27FC236}">
                <a16:creationId xmlns:a16="http://schemas.microsoft.com/office/drawing/2014/main" id="{83EAB6F5-8700-E656-D6C4-6D955F30B020}"/>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endParaRPr dirty="0"/>
          </a:p>
        </p:txBody>
      </p:sp>
      <p:sp>
        <p:nvSpPr>
          <p:cNvPr id="120" name="Google Shape;120;g3a02e1ac065_0_21:notes">
            <a:extLst>
              <a:ext uri="{FF2B5EF4-FFF2-40B4-BE49-F238E27FC236}">
                <a16:creationId xmlns:a16="http://schemas.microsoft.com/office/drawing/2014/main" id="{5F6B95B0-E3D6-4B15-20D1-DD17037AFFE1}"/>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extLst>
      <p:ext uri="{BB962C8B-B14F-4D97-AF65-F5344CB8AC3E}">
        <p14:creationId xmlns:p14="http://schemas.microsoft.com/office/powerpoint/2010/main" val="1710450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A84B1BA9-C3D5-FAED-334E-71604381A9CE}"/>
            </a:ext>
          </a:extLst>
        </p:cNvPr>
        <p:cNvGrpSpPr/>
        <p:nvPr/>
      </p:nvGrpSpPr>
      <p:grpSpPr>
        <a:xfrm>
          <a:off x="0" y="0"/>
          <a:ext cx="0" cy="0"/>
          <a:chOff x="0" y="0"/>
          <a:chExt cx="0" cy="0"/>
        </a:xfrm>
      </p:grpSpPr>
      <p:sp>
        <p:nvSpPr>
          <p:cNvPr id="118" name="Google Shape;118;g3a02e1ac065_0_21:notes">
            <a:extLst>
              <a:ext uri="{FF2B5EF4-FFF2-40B4-BE49-F238E27FC236}">
                <a16:creationId xmlns:a16="http://schemas.microsoft.com/office/drawing/2014/main" id="{D94FD04B-97B4-5006-F814-32C7B022F78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3a02e1ac065_0_21:notes">
            <a:extLst>
              <a:ext uri="{FF2B5EF4-FFF2-40B4-BE49-F238E27FC236}">
                <a16:creationId xmlns:a16="http://schemas.microsoft.com/office/drawing/2014/main" id="{BDD75BEA-3DC2-BB6D-D8E9-4A3CBBF34A32}"/>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endParaRPr dirty="0"/>
          </a:p>
        </p:txBody>
      </p:sp>
      <p:sp>
        <p:nvSpPr>
          <p:cNvPr id="120" name="Google Shape;120;g3a02e1ac065_0_21:notes">
            <a:extLst>
              <a:ext uri="{FF2B5EF4-FFF2-40B4-BE49-F238E27FC236}">
                <a16:creationId xmlns:a16="http://schemas.microsoft.com/office/drawing/2014/main" id="{D0E623DE-7D2D-CFAF-3618-267073688E03}"/>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6594273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a:extLst>
            <a:ext uri="{FF2B5EF4-FFF2-40B4-BE49-F238E27FC236}">
              <a16:creationId xmlns:a16="http://schemas.microsoft.com/office/drawing/2014/main" id="{7E7502A1-6C9B-A31E-1CDB-A1135088AAC3}"/>
            </a:ext>
          </a:extLst>
        </p:cNvPr>
        <p:cNvGrpSpPr/>
        <p:nvPr/>
      </p:nvGrpSpPr>
      <p:grpSpPr>
        <a:xfrm>
          <a:off x="0" y="0"/>
          <a:ext cx="0" cy="0"/>
          <a:chOff x="0" y="0"/>
          <a:chExt cx="0" cy="0"/>
        </a:xfrm>
      </p:grpSpPr>
      <p:sp>
        <p:nvSpPr>
          <p:cNvPr id="118" name="Google Shape;118;g3a02e1ac065_0_21:notes">
            <a:extLst>
              <a:ext uri="{FF2B5EF4-FFF2-40B4-BE49-F238E27FC236}">
                <a16:creationId xmlns:a16="http://schemas.microsoft.com/office/drawing/2014/main" id="{5D6C3715-1248-030D-5487-9233B7FFBFF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3a02e1ac065_0_21:notes">
            <a:extLst>
              <a:ext uri="{FF2B5EF4-FFF2-40B4-BE49-F238E27FC236}">
                <a16:creationId xmlns:a16="http://schemas.microsoft.com/office/drawing/2014/main" id="{67AB9A0C-F6F2-A6A7-9801-49E8065D9B5E}"/>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endParaRPr dirty="0"/>
          </a:p>
        </p:txBody>
      </p:sp>
      <p:sp>
        <p:nvSpPr>
          <p:cNvPr id="120" name="Google Shape;120;g3a02e1ac065_0_21:notes">
            <a:extLst>
              <a:ext uri="{FF2B5EF4-FFF2-40B4-BE49-F238E27FC236}">
                <a16:creationId xmlns:a16="http://schemas.microsoft.com/office/drawing/2014/main" id="{2A19D4B9-FDF1-931B-26A4-62F6DB1FF847}"/>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15273491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a02e1ac065_0_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3a02e1ac065_0_4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endParaRPr dirty="0"/>
          </a:p>
        </p:txBody>
      </p:sp>
      <p:sp>
        <p:nvSpPr>
          <p:cNvPr id="138" name="Google Shape;138;g3a02e1ac065_0_4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a:extLst>
            <a:ext uri="{FF2B5EF4-FFF2-40B4-BE49-F238E27FC236}">
              <a16:creationId xmlns:a16="http://schemas.microsoft.com/office/drawing/2014/main" id="{9AAF3CA8-3BD9-B32D-8F74-B4FD5FF99A7A}"/>
            </a:ext>
          </a:extLst>
        </p:cNvPr>
        <p:cNvGrpSpPr/>
        <p:nvPr/>
      </p:nvGrpSpPr>
      <p:grpSpPr>
        <a:xfrm>
          <a:off x="0" y="0"/>
          <a:ext cx="0" cy="0"/>
          <a:chOff x="0" y="0"/>
          <a:chExt cx="0" cy="0"/>
        </a:xfrm>
      </p:grpSpPr>
      <p:sp>
        <p:nvSpPr>
          <p:cNvPr id="136" name="Google Shape;136;g3a02e1ac065_0_41:notes">
            <a:extLst>
              <a:ext uri="{FF2B5EF4-FFF2-40B4-BE49-F238E27FC236}">
                <a16:creationId xmlns:a16="http://schemas.microsoft.com/office/drawing/2014/main" id="{9E37EDE7-FF4B-A51D-3BA3-716AF9F7C2D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3a02e1ac065_0_41:notes">
            <a:extLst>
              <a:ext uri="{FF2B5EF4-FFF2-40B4-BE49-F238E27FC236}">
                <a16:creationId xmlns:a16="http://schemas.microsoft.com/office/drawing/2014/main" id="{33FCB038-763A-2E16-8E61-B267CCEB9739}"/>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endParaRPr dirty="0"/>
          </a:p>
        </p:txBody>
      </p:sp>
      <p:sp>
        <p:nvSpPr>
          <p:cNvPr id="138" name="Google Shape;138;g3a02e1ac065_0_41:notes">
            <a:extLst>
              <a:ext uri="{FF2B5EF4-FFF2-40B4-BE49-F238E27FC236}">
                <a16:creationId xmlns:a16="http://schemas.microsoft.com/office/drawing/2014/main" id="{5AC71F70-9078-1CD3-7DCF-D28AC0D2E7B9}"/>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40842736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a02e1ac065_0_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g3a02e1ac065_0_4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0"/>
              </a:spcBef>
              <a:spcAft>
                <a:spcPts val="0"/>
              </a:spcAft>
              <a:buNone/>
            </a:pPr>
            <a:endParaRPr dirty="0"/>
          </a:p>
        </p:txBody>
      </p:sp>
      <p:sp>
        <p:nvSpPr>
          <p:cNvPr id="146" name="Google Shape;146;g3a02e1ac065_0_4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a:extLst>
            <a:ext uri="{FF2B5EF4-FFF2-40B4-BE49-F238E27FC236}">
              <a16:creationId xmlns:a16="http://schemas.microsoft.com/office/drawing/2014/main" id="{2B9DE30C-8203-43B1-EC18-0469C46676BF}"/>
            </a:ext>
          </a:extLst>
        </p:cNvPr>
        <p:cNvGrpSpPr/>
        <p:nvPr/>
      </p:nvGrpSpPr>
      <p:grpSpPr>
        <a:xfrm>
          <a:off x="0" y="0"/>
          <a:ext cx="0" cy="0"/>
          <a:chOff x="0" y="0"/>
          <a:chExt cx="0" cy="0"/>
        </a:xfrm>
      </p:grpSpPr>
      <p:sp>
        <p:nvSpPr>
          <p:cNvPr id="136" name="Google Shape;136;g3a02e1ac065_0_41:notes">
            <a:extLst>
              <a:ext uri="{FF2B5EF4-FFF2-40B4-BE49-F238E27FC236}">
                <a16:creationId xmlns:a16="http://schemas.microsoft.com/office/drawing/2014/main" id="{35D79C23-3409-7172-D791-94C80930344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3a02e1ac065_0_41:notes">
            <a:extLst>
              <a:ext uri="{FF2B5EF4-FFF2-40B4-BE49-F238E27FC236}">
                <a16:creationId xmlns:a16="http://schemas.microsoft.com/office/drawing/2014/main" id="{C14EFF57-4620-667A-1B88-3CD7EDA2EACF}"/>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endParaRPr dirty="0"/>
          </a:p>
        </p:txBody>
      </p:sp>
      <p:sp>
        <p:nvSpPr>
          <p:cNvPr id="138" name="Google Shape;138;g3a02e1ac065_0_41:notes">
            <a:extLst>
              <a:ext uri="{FF2B5EF4-FFF2-40B4-BE49-F238E27FC236}">
                <a16:creationId xmlns:a16="http://schemas.microsoft.com/office/drawing/2014/main" id="{62564CAC-59EF-F7D2-5475-F7D31CFEFF73}"/>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30275361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a:extLst>
            <a:ext uri="{FF2B5EF4-FFF2-40B4-BE49-F238E27FC236}">
              <a16:creationId xmlns:a16="http://schemas.microsoft.com/office/drawing/2014/main" id="{D563196B-FD83-FFE8-9CC6-730405A8333D}"/>
            </a:ext>
          </a:extLst>
        </p:cNvPr>
        <p:cNvGrpSpPr/>
        <p:nvPr/>
      </p:nvGrpSpPr>
      <p:grpSpPr>
        <a:xfrm>
          <a:off x="0" y="0"/>
          <a:ext cx="0" cy="0"/>
          <a:chOff x="0" y="0"/>
          <a:chExt cx="0" cy="0"/>
        </a:xfrm>
      </p:grpSpPr>
      <p:sp>
        <p:nvSpPr>
          <p:cNvPr id="136" name="Google Shape;136;g3a02e1ac065_0_41:notes">
            <a:extLst>
              <a:ext uri="{FF2B5EF4-FFF2-40B4-BE49-F238E27FC236}">
                <a16:creationId xmlns:a16="http://schemas.microsoft.com/office/drawing/2014/main" id="{8E134B00-1FA9-74FC-2A3A-C341DB2F3D0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3a02e1ac065_0_41:notes">
            <a:extLst>
              <a:ext uri="{FF2B5EF4-FFF2-40B4-BE49-F238E27FC236}">
                <a16:creationId xmlns:a16="http://schemas.microsoft.com/office/drawing/2014/main" id="{1FE024D2-3892-3EDF-1A41-5B40E8B99D01}"/>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endParaRPr dirty="0"/>
          </a:p>
        </p:txBody>
      </p:sp>
      <p:sp>
        <p:nvSpPr>
          <p:cNvPr id="138" name="Google Shape;138;g3a02e1ac065_0_41:notes">
            <a:extLst>
              <a:ext uri="{FF2B5EF4-FFF2-40B4-BE49-F238E27FC236}">
                <a16:creationId xmlns:a16="http://schemas.microsoft.com/office/drawing/2014/main" id="{0EC4E7EB-7B36-84E6-02A2-9EAC0A273766}"/>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29601231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a:extLst>
            <a:ext uri="{FF2B5EF4-FFF2-40B4-BE49-F238E27FC236}">
              <a16:creationId xmlns:a16="http://schemas.microsoft.com/office/drawing/2014/main" id="{EEC08159-33D7-74B6-3ED3-C3D8E157175A}"/>
            </a:ext>
          </a:extLst>
        </p:cNvPr>
        <p:cNvGrpSpPr/>
        <p:nvPr/>
      </p:nvGrpSpPr>
      <p:grpSpPr>
        <a:xfrm>
          <a:off x="0" y="0"/>
          <a:ext cx="0" cy="0"/>
          <a:chOff x="0" y="0"/>
          <a:chExt cx="0" cy="0"/>
        </a:xfrm>
      </p:grpSpPr>
      <p:sp>
        <p:nvSpPr>
          <p:cNvPr id="136" name="Google Shape;136;g3a02e1ac065_0_41:notes">
            <a:extLst>
              <a:ext uri="{FF2B5EF4-FFF2-40B4-BE49-F238E27FC236}">
                <a16:creationId xmlns:a16="http://schemas.microsoft.com/office/drawing/2014/main" id="{633CA511-00EB-B461-8A20-BAB746F05F6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3a02e1ac065_0_41:notes">
            <a:extLst>
              <a:ext uri="{FF2B5EF4-FFF2-40B4-BE49-F238E27FC236}">
                <a16:creationId xmlns:a16="http://schemas.microsoft.com/office/drawing/2014/main" id="{646DDD1B-50C4-5391-3437-554E083EF0D4}"/>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endParaRPr dirty="0"/>
          </a:p>
        </p:txBody>
      </p:sp>
      <p:sp>
        <p:nvSpPr>
          <p:cNvPr id="138" name="Google Shape;138;g3a02e1ac065_0_41:notes">
            <a:extLst>
              <a:ext uri="{FF2B5EF4-FFF2-40B4-BE49-F238E27FC236}">
                <a16:creationId xmlns:a16="http://schemas.microsoft.com/office/drawing/2014/main" id="{CF25F5F9-25AE-7F1A-A8BA-535081C68EA3}"/>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14834985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a:extLst>
            <a:ext uri="{FF2B5EF4-FFF2-40B4-BE49-F238E27FC236}">
              <a16:creationId xmlns:a16="http://schemas.microsoft.com/office/drawing/2014/main" id="{0C8D6789-4BE7-F137-E34D-2A29C07F3AA9}"/>
            </a:ext>
          </a:extLst>
        </p:cNvPr>
        <p:cNvGrpSpPr/>
        <p:nvPr/>
      </p:nvGrpSpPr>
      <p:grpSpPr>
        <a:xfrm>
          <a:off x="0" y="0"/>
          <a:ext cx="0" cy="0"/>
          <a:chOff x="0" y="0"/>
          <a:chExt cx="0" cy="0"/>
        </a:xfrm>
      </p:grpSpPr>
      <p:sp>
        <p:nvSpPr>
          <p:cNvPr id="136" name="Google Shape;136;g3a02e1ac065_0_41:notes">
            <a:extLst>
              <a:ext uri="{FF2B5EF4-FFF2-40B4-BE49-F238E27FC236}">
                <a16:creationId xmlns:a16="http://schemas.microsoft.com/office/drawing/2014/main" id="{8B6784AD-10CA-8C06-9640-E3507C93CB4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3a02e1ac065_0_41:notes">
            <a:extLst>
              <a:ext uri="{FF2B5EF4-FFF2-40B4-BE49-F238E27FC236}">
                <a16:creationId xmlns:a16="http://schemas.microsoft.com/office/drawing/2014/main" id="{2D394F1C-0361-0531-E1B9-B52273087541}"/>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endParaRPr dirty="0"/>
          </a:p>
        </p:txBody>
      </p:sp>
      <p:sp>
        <p:nvSpPr>
          <p:cNvPr id="138" name="Google Shape;138;g3a02e1ac065_0_41:notes">
            <a:extLst>
              <a:ext uri="{FF2B5EF4-FFF2-40B4-BE49-F238E27FC236}">
                <a16:creationId xmlns:a16="http://schemas.microsoft.com/office/drawing/2014/main" id="{5CFD66A2-856B-D64C-5ABA-3C49DE2A9F18}"/>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32968635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5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Autofit/>
          </a:bodyPr>
          <a:lstStyle>
            <a:lvl1pPr marR="0" lvl="0" algn="ctr"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 name="Google Shape;12;p5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13" name="Google Shape;13;p5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5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
        <p:nvSpPr>
          <p:cNvPr id="16" name="Google Shape;16;p52"/>
          <p:cNvSpPr/>
          <p:nvPr/>
        </p:nvSpPr>
        <p:spPr>
          <a:xfrm>
            <a:off x="0" y="0"/>
            <a:ext cx="12192000" cy="6858000"/>
          </a:xfrm>
          <a:prstGeom prst="rect">
            <a:avLst/>
          </a:prstGeom>
          <a:solidFill>
            <a:srgbClr val="D7AC5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7"/>
        <p:cNvGrpSpPr/>
        <p:nvPr/>
      </p:nvGrpSpPr>
      <p:grpSpPr>
        <a:xfrm>
          <a:off x="0" y="0"/>
          <a:ext cx="0" cy="0"/>
          <a:chOff x="0" y="0"/>
          <a:chExt cx="0" cy="0"/>
        </a:xfrm>
      </p:grpSpPr>
      <p:pic>
        <p:nvPicPr>
          <p:cNvPr id="18" name="Google Shape;18;p53" descr="A white and gold rectangles&#10;&#10;Description automatically generated with low confidence"/>
          <p:cNvPicPr preferRelativeResize="0"/>
          <p:nvPr/>
        </p:nvPicPr>
        <p:blipFill rotWithShape="1">
          <a:blip r:embed="rId2">
            <a:alphaModFix amt="20000"/>
          </a:blip>
          <a:srcRect/>
          <a:stretch/>
        </p:blipFill>
        <p:spPr>
          <a:xfrm>
            <a:off x="0" y="15766"/>
            <a:ext cx="12192000" cy="6858000"/>
          </a:xfrm>
          <a:prstGeom prst="rect">
            <a:avLst/>
          </a:prstGeom>
          <a:noFill/>
          <a:ln>
            <a:noFill/>
          </a:ln>
        </p:spPr>
      </p:pic>
      <p:pic>
        <p:nvPicPr>
          <p:cNvPr id="19" name="Google Shape;19;p53" descr="A picture containing text, logo, font, graphics&#10;&#10;Description automatically generated"/>
          <p:cNvPicPr preferRelativeResize="0"/>
          <p:nvPr/>
        </p:nvPicPr>
        <p:blipFill rotWithShape="1">
          <a:blip r:embed="rId3">
            <a:alphaModFix/>
          </a:blip>
          <a:srcRect/>
          <a:stretch/>
        </p:blipFill>
        <p:spPr>
          <a:xfrm>
            <a:off x="9503376" y="1"/>
            <a:ext cx="2688624" cy="1511300"/>
          </a:xfrm>
          <a:prstGeom prst="rect">
            <a:avLst/>
          </a:prstGeom>
          <a:noFill/>
          <a:ln>
            <a:noFill/>
          </a:ln>
        </p:spPr>
      </p:pic>
      <p:sp>
        <p:nvSpPr>
          <p:cNvPr id="20" name="Google Shape;20;p53"/>
          <p:cNvSpPr/>
          <p:nvPr/>
        </p:nvSpPr>
        <p:spPr>
          <a:xfrm>
            <a:off x="0" y="6235701"/>
            <a:ext cx="12192000" cy="622299"/>
          </a:xfrm>
          <a:prstGeom prst="round2SameRect">
            <a:avLst>
              <a:gd name="adj1" fmla="val 50000"/>
              <a:gd name="adj2" fmla="val 0"/>
            </a:avLst>
          </a:prstGeom>
          <a:solidFill>
            <a:srgbClr val="23303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1" name="Google Shape;21;p53"/>
          <p:cNvSpPr/>
          <p:nvPr/>
        </p:nvSpPr>
        <p:spPr>
          <a:xfrm>
            <a:off x="0" y="6812280"/>
            <a:ext cx="12192000" cy="45719"/>
          </a:xfrm>
          <a:prstGeom prst="round2SameRect">
            <a:avLst>
              <a:gd name="adj1" fmla="val 0"/>
              <a:gd name="adj2" fmla="val 0"/>
            </a:avLst>
          </a:prstGeom>
          <a:solidFill>
            <a:srgbClr val="D7AC5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2" name="Google Shape;22;p5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3" name="Google Shape;23;p5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800"/>
              <a:buFont typeface="Arial"/>
              <a:buNone/>
              <a:defRPr sz="18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24" name="Google Shape;24;p53"/>
          <p:cNvSpPr txBox="1">
            <a:spLocks noGrp="1"/>
          </p:cNvSpPr>
          <p:nvPr>
            <p:ph type="body" idx="1"/>
          </p:nvPr>
        </p:nvSpPr>
        <p:spPr>
          <a:xfrm>
            <a:off x="189186" y="1825625"/>
            <a:ext cx="118872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5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7" name="Google Shape;27;p5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28" name="Google Shape;28;p5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9" name="Google Shape;29;p5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0" name="Google Shape;30;p5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3" name="Google Shape;33;p5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4" name="Google Shape;34;p5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5" name="Google Shape;35;p5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6" name="Google Shape;36;p5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7" name="Google Shape;37;p5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5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0" name="Google Shape;40;p5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1" name="Google Shape;41;p5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2" name="Google Shape;42;p5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3" name="Google Shape;43;p5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4" name="Google Shape;44;p5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5" name="Google Shape;45;p5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6" name="Google Shape;46;p5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5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9" name="Google Shape;49;p5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0" name="Google Shape;50;p5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1" name="Google Shape;51;p5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2"/>
        <p:cNvGrpSpPr/>
        <p:nvPr/>
      </p:nvGrpSpPr>
      <p:grpSpPr>
        <a:xfrm>
          <a:off x="0" y="0"/>
          <a:ext cx="0" cy="0"/>
          <a:chOff x="0" y="0"/>
          <a:chExt cx="0" cy="0"/>
        </a:xfrm>
      </p:grpSpPr>
      <p:sp>
        <p:nvSpPr>
          <p:cNvPr id="53" name="Google Shape;53;p5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4" name="Google Shape;54;p5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5" name="Google Shape;55;p5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6"/>
        <p:cNvGrpSpPr/>
        <p:nvPr/>
      </p:nvGrpSpPr>
      <p:grpSpPr>
        <a:xfrm>
          <a:off x="0" y="0"/>
          <a:ext cx="0" cy="0"/>
          <a:chOff x="0" y="0"/>
          <a:chExt cx="0" cy="0"/>
        </a:xfrm>
      </p:grpSpPr>
      <p:sp>
        <p:nvSpPr>
          <p:cNvPr id="57" name="Google Shape;57;p5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8" name="Google Shape;58;p5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marR="0" lvl="0"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90000"/>
              </a:lnSpc>
              <a:spcBef>
                <a:spcPts val="5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59" name="Google Shape;59;p5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0" name="Google Shape;60;p5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1" name="Google Shape;61;p5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2" name="Google Shape;62;p5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0"/>
        <p:cNvGrpSpPr/>
        <p:nvPr/>
      </p:nvGrpSpPr>
      <p:grpSpPr>
        <a:xfrm>
          <a:off x="0" y="0"/>
          <a:ext cx="0" cy="0"/>
          <a:chOff x="0" y="0"/>
          <a:chExt cx="0" cy="0"/>
        </a:xfrm>
      </p:grpSpPr>
      <p:sp>
        <p:nvSpPr>
          <p:cNvPr id="71" name="Google Shape;71;p6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2" name="Google Shape;72;p6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3" name="Google Shape;73;p6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74" name="Google Shape;74;p6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75" name="Google Shape;75;p6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6"/>
        <p:cNvGrpSpPr/>
        <p:nvPr/>
      </p:nvGrpSpPr>
      <p:grpSpPr>
        <a:xfrm>
          <a:off x="0" y="0"/>
          <a:ext cx="0" cy="0"/>
          <a:chOff x="0" y="0"/>
          <a:chExt cx="0" cy="0"/>
        </a:xfrm>
      </p:grpSpPr>
      <p:sp>
        <p:nvSpPr>
          <p:cNvPr id="77" name="Google Shape;77;p6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8" name="Google Shape;78;p6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9" name="Google Shape;79;p6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0" name="Google Shape;80;p6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1" name="Google Shape;81;p6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8" r:id="rId9"/>
    <p:sldLayoutId id="2147483659" r:id="rId1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pic>
        <p:nvPicPr>
          <p:cNvPr id="86" name="Google Shape;86;p1" descr="A group of people walking in front of a building&#10;&#10;Description automatically generated"/>
          <p:cNvPicPr preferRelativeResize="0"/>
          <p:nvPr/>
        </p:nvPicPr>
        <p:blipFill rotWithShape="1">
          <a:blip r:embed="rId3">
            <a:alphaModFix amt="35000"/>
          </a:blip>
          <a:srcRect t="20312"/>
          <a:stretch/>
        </p:blipFill>
        <p:spPr>
          <a:xfrm>
            <a:off x="0" y="-18662"/>
            <a:ext cx="12192000" cy="6858000"/>
          </a:xfrm>
          <a:prstGeom prst="rect">
            <a:avLst/>
          </a:prstGeom>
          <a:noFill/>
          <a:ln w="76200" cap="flat" cmpd="sng">
            <a:solidFill>
              <a:srgbClr val="233039"/>
            </a:solidFill>
            <a:prstDash val="solid"/>
            <a:round/>
            <a:headEnd type="none" w="sm" len="sm"/>
            <a:tailEnd type="none" w="sm" len="sm"/>
          </a:ln>
        </p:spPr>
      </p:pic>
      <p:pic>
        <p:nvPicPr>
          <p:cNvPr id="87" name="Google Shape;87;p1" descr="A picture containing text, logo, font, graphics&#10;&#10;Description automatically generated"/>
          <p:cNvPicPr preferRelativeResize="0"/>
          <p:nvPr/>
        </p:nvPicPr>
        <p:blipFill rotWithShape="1">
          <a:blip r:embed="rId4">
            <a:alphaModFix/>
          </a:blip>
          <a:srcRect/>
          <a:stretch/>
        </p:blipFill>
        <p:spPr>
          <a:xfrm>
            <a:off x="9326562" y="0"/>
            <a:ext cx="2865438" cy="1610689"/>
          </a:xfrm>
          <a:prstGeom prst="rect">
            <a:avLst/>
          </a:prstGeom>
          <a:noFill/>
          <a:ln>
            <a:noFill/>
          </a:ln>
        </p:spPr>
      </p:pic>
      <p:sp>
        <p:nvSpPr>
          <p:cNvPr id="88" name="Google Shape;88;p1"/>
          <p:cNvSpPr/>
          <p:nvPr/>
        </p:nvSpPr>
        <p:spPr>
          <a:xfrm>
            <a:off x="0" y="6388100"/>
            <a:ext cx="12192000" cy="127000"/>
          </a:xfrm>
          <a:prstGeom prst="rect">
            <a:avLst/>
          </a:prstGeom>
          <a:solidFill>
            <a:srgbClr val="23303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89" name="Google Shape;89;p1"/>
          <p:cNvSpPr/>
          <p:nvPr/>
        </p:nvSpPr>
        <p:spPr>
          <a:xfrm rot="10800000" flipH="1">
            <a:off x="0" y="6573518"/>
            <a:ext cx="12192000" cy="45719"/>
          </a:xfrm>
          <a:prstGeom prst="rect">
            <a:avLst/>
          </a:prstGeom>
          <a:solidFill>
            <a:srgbClr val="23303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0" name="Google Shape;90;p1"/>
          <p:cNvSpPr txBox="1">
            <a:spLocks noGrp="1"/>
          </p:cNvSpPr>
          <p:nvPr>
            <p:ph type="subTitle" idx="1"/>
          </p:nvPr>
        </p:nvSpPr>
        <p:spPr>
          <a:xfrm>
            <a:off x="429208" y="2407719"/>
            <a:ext cx="10238792" cy="1655762"/>
          </a:xfrm>
          <a:prstGeom prst="rect">
            <a:avLst/>
          </a:prstGeom>
          <a:noFill/>
          <a:ln>
            <a:noFill/>
          </a:ln>
        </p:spPr>
        <p:txBody>
          <a:bodyPr spcFirstLastPara="1" wrap="square" lIns="91425" tIns="45700" rIns="91425" bIns="45700" anchor="t" anchorCtr="0">
            <a:noAutofit/>
          </a:bodyPr>
          <a:lstStyle/>
          <a:p>
            <a:pPr lvl="0" algn="l"/>
            <a:r>
              <a:rPr lang="en-GB" sz="3200" dirty="0" err="1"/>
              <a:t>LocalLink</a:t>
            </a:r>
            <a:r>
              <a:rPr lang="en-GB" sz="3200" dirty="0"/>
              <a:t>: Smart Local Services Platform</a:t>
            </a:r>
            <a:endParaRPr sz="3200" dirty="0"/>
          </a:p>
        </p:txBody>
      </p:sp>
      <p:sp>
        <p:nvSpPr>
          <p:cNvPr id="91" name="Google Shape;91;p1"/>
          <p:cNvSpPr txBox="1"/>
          <p:nvPr/>
        </p:nvSpPr>
        <p:spPr>
          <a:xfrm>
            <a:off x="366227" y="3902401"/>
            <a:ext cx="7985400" cy="175428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Times New Roman"/>
                <a:ea typeface="Times New Roman"/>
                <a:cs typeface="Times New Roman"/>
                <a:sym typeface="Times New Roman"/>
              </a:rPr>
              <a:t>Presentation By:</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Times New Roman"/>
                <a:ea typeface="Times New Roman"/>
                <a:cs typeface="Times New Roman"/>
                <a:sym typeface="Times New Roman"/>
              </a:rPr>
              <a:t>Name1: Aneesh Adithya SR                 		USN1:1RVU23CSE054</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Times New Roman"/>
                <a:ea typeface="Times New Roman"/>
                <a:cs typeface="Times New Roman"/>
                <a:sym typeface="Times New Roman"/>
              </a:rPr>
              <a:t>Name2: </a:t>
            </a:r>
            <a:r>
              <a:rPr lang="en-US" sz="1800" dirty="0">
                <a:solidFill>
                  <a:schemeClr val="dk1"/>
                </a:solidFill>
                <a:latin typeface="Times New Roman"/>
                <a:ea typeface="Times New Roman"/>
                <a:cs typeface="Times New Roman"/>
                <a:sym typeface="Times New Roman"/>
              </a:rPr>
              <a:t>Varun U Badiger		</a:t>
            </a:r>
            <a:r>
              <a:rPr lang="en-US" sz="1800" b="0" i="0" u="none" strike="noStrike" cap="none" dirty="0">
                <a:solidFill>
                  <a:schemeClr val="dk1"/>
                </a:solidFill>
                <a:latin typeface="Times New Roman"/>
                <a:ea typeface="Times New Roman"/>
                <a:cs typeface="Times New Roman"/>
                <a:sym typeface="Times New Roman"/>
              </a:rPr>
              <a:t>	USN2:</a:t>
            </a:r>
            <a:r>
              <a:rPr lang="en-US" sz="1800" dirty="0">
                <a:solidFill>
                  <a:schemeClr val="dk1"/>
                </a:solidFill>
                <a:latin typeface="Times New Roman"/>
                <a:ea typeface="Times New Roman"/>
                <a:cs typeface="Times New Roman"/>
                <a:sym typeface="Times New Roman"/>
              </a:rPr>
              <a:t>1RVU23CSE530</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Times New Roman"/>
                <a:ea typeface="Times New Roman"/>
                <a:cs typeface="Times New Roman"/>
                <a:sym typeface="Times New Roman"/>
              </a:rPr>
              <a:t>Name3: Pratham RD			USN3:</a:t>
            </a:r>
            <a:r>
              <a:rPr lang="en-US" sz="1800" dirty="0">
                <a:solidFill>
                  <a:schemeClr val="dk1"/>
                </a:solidFill>
                <a:latin typeface="Times New Roman"/>
                <a:ea typeface="Times New Roman"/>
                <a:cs typeface="Times New Roman"/>
                <a:sym typeface="Times New Roman"/>
              </a:rPr>
              <a:t>1RVU23CSE348</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Times New Roman"/>
                <a:ea typeface="Times New Roman"/>
                <a:cs typeface="Times New Roman"/>
                <a:sym typeface="Times New Roman"/>
              </a:rPr>
              <a:t>Name4:Rajath D </a:t>
            </a:r>
            <a:r>
              <a:rPr lang="en-US" sz="1800" b="0" i="0" u="none" strike="noStrike" cap="none" dirty="0" err="1">
                <a:solidFill>
                  <a:schemeClr val="dk1"/>
                </a:solidFill>
                <a:latin typeface="Times New Roman"/>
                <a:ea typeface="Times New Roman"/>
                <a:cs typeface="Times New Roman"/>
                <a:sym typeface="Times New Roman"/>
              </a:rPr>
              <a:t>Kudur</a:t>
            </a:r>
            <a:r>
              <a:rPr lang="en-US" sz="1800" b="0" i="0" u="none" strike="noStrike" cap="none" dirty="0">
                <a:solidFill>
                  <a:schemeClr val="dk1"/>
                </a:solidFill>
                <a:latin typeface="Times New Roman"/>
                <a:ea typeface="Times New Roman"/>
                <a:cs typeface="Times New Roman"/>
                <a:sym typeface="Times New Roman"/>
              </a:rPr>
              <a:t>			USN4:1RVU23CSE366</a:t>
            </a:r>
            <a:endParaRPr sz="1800" b="0" i="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p:txBody>
      </p:sp>
      <p:sp>
        <p:nvSpPr>
          <p:cNvPr id="92" name="Google Shape;92;p1"/>
          <p:cNvSpPr txBox="1"/>
          <p:nvPr/>
        </p:nvSpPr>
        <p:spPr>
          <a:xfrm>
            <a:off x="7579360" y="2446055"/>
            <a:ext cx="6177300" cy="230828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Times New Roman"/>
                <a:ea typeface="Times New Roman"/>
                <a:cs typeface="Times New Roman"/>
                <a:sym typeface="Times New Roman"/>
              </a:rPr>
              <a:t>           </a:t>
            </a:r>
            <a:endParaRPr sz="1800" b="1" i="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800"/>
              <a:buFont typeface="Arial"/>
              <a:buNone/>
            </a:pPr>
            <a:endParaRPr sz="1800" b="1" i="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Times New Roman"/>
                <a:ea typeface="Times New Roman"/>
                <a:cs typeface="Times New Roman"/>
                <a:sym typeface="Times New Roman"/>
              </a:rPr>
              <a:t> </a:t>
            </a:r>
            <a:endParaRPr sz="1400" b="0" i="0" u="none" strike="noStrike" cap="none" dirty="0">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GB" sz="1800" b="0" i="0" u="none" strike="noStrike" cap="none" dirty="0">
                <a:solidFill>
                  <a:schemeClr val="dk1"/>
                </a:solidFill>
                <a:latin typeface="Times New Roman"/>
                <a:ea typeface="Times New Roman"/>
                <a:cs typeface="Times New Roman"/>
                <a:sym typeface="Times New Roman"/>
              </a:rPr>
              <a:t>School:</a:t>
            </a:r>
            <a:r>
              <a:rPr lang="en-GB" dirty="0"/>
              <a:t> </a:t>
            </a:r>
            <a:r>
              <a:rPr lang="en-GB" sz="1800" b="0" i="0" u="none" strike="noStrike" cap="none" dirty="0">
                <a:solidFill>
                  <a:schemeClr val="dk1"/>
                </a:solidFill>
                <a:latin typeface="Times New Roman"/>
                <a:ea typeface="Times New Roman"/>
                <a:cs typeface="Times New Roman"/>
                <a:sym typeface="Times New Roman"/>
              </a:rPr>
              <a:t>RV University</a:t>
            </a:r>
            <a:endParaRPr lang="en-GB"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63"/>
          <p:cNvSpPr txBox="1">
            <a:spLocks noGrp="1"/>
          </p:cNvSpPr>
          <p:nvPr>
            <p:ph type="dt" idx="10"/>
          </p:nvPr>
        </p:nvSpPr>
        <p:spPr>
          <a:xfrm>
            <a:off x="2758751" y="6330561"/>
            <a:ext cx="5851800" cy="501600"/>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0"/>
              </a:spcBef>
              <a:spcAft>
                <a:spcPts val="0"/>
              </a:spcAft>
              <a:buSzPts val="1400"/>
              <a:buNone/>
            </a:pPr>
            <a:r>
              <a:rPr lang="en-US"/>
              <a:t>SOCSE, RV University</a:t>
            </a:r>
            <a:endParaRPr/>
          </a:p>
        </p:txBody>
      </p:sp>
      <p:sp>
        <p:nvSpPr>
          <p:cNvPr id="98" name="Google Shape;98;p6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800"/>
              <a:buNone/>
            </a:pPr>
            <a:fld id="{00000000-1234-1234-1234-123412341234}" type="slidenum">
              <a:rPr lang="en-US"/>
              <a:t>2</a:t>
            </a:fld>
            <a:endParaRPr/>
          </a:p>
        </p:txBody>
      </p:sp>
      <p:sp>
        <p:nvSpPr>
          <p:cNvPr id="99" name="Google Shape;99;p63"/>
          <p:cNvSpPr txBox="1"/>
          <p:nvPr/>
        </p:nvSpPr>
        <p:spPr>
          <a:xfrm>
            <a:off x="4903142" y="656277"/>
            <a:ext cx="1741182"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a:solidFill>
                  <a:srgbClr val="000000"/>
                </a:solidFill>
                <a:latin typeface="Times New Roman"/>
                <a:ea typeface="Times New Roman"/>
                <a:cs typeface="Times New Roman"/>
                <a:sym typeface="Times New Roman"/>
              </a:rPr>
              <a:t>AGENDA</a:t>
            </a:r>
            <a:endParaRPr sz="1400" b="0" i="0" u="none" strike="noStrike" cap="none">
              <a:solidFill>
                <a:srgbClr val="000000"/>
              </a:solidFill>
              <a:latin typeface="Arial"/>
              <a:ea typeface="Arial"/>
              <a:cs typeface="Arial"/>
              <a:sym typeface="Arial"/>
            </a:endParaRPr>
          </a:p>
        </p:txBody>
      </p:sp>
      <p:sp>
        <p:nvSpPr>
          <p:cNvPr id="100" name="Google Shape;100;p63"/>
          <p:cNvSpPr txBox="1"/>
          <p:nvPr/>
        </p:nvSpPr>
        <p:spPr>
          <a:xfrm>
            <a:off x="283450" y="1437175"/>
            <a:ext cx="11610000" cy="4680600"/>
          </a:xfrm>
          <a:prstGeom prst="rect">
            <a:avLst/>
          </a:prstGeom>
          <a:noFill/>
          <a:ln>
            <a:noFill/>
          </a:ln>
        </p:spPr>
        <p:txBody>
          <a:bodyPr spcFirstLastPara="1" wrap="square" lIns="91425" tIns="91425" rIns="91425" bIns="91425" anchor="t" anchorCtr="0">
            <a:noAutofit/>
          </a:bodyPr>
          <a:lstStyle/>
          <a:p>
            <a:pPr marL="285750" marR="0" lvl="0" indent="-209550" algn="l" rtl="0">
              <a:lnSpc>
                <a:spcPct val="150000"/>
              </a:lnSpc>
              <a:spcBef>
                <a:spcPts val="1000"/>
              </a:spcBef>
              <a:spcAft>
                <a:spcPts val="0"/>
              </a:spcAft>
              <a:buClr>
                <a:schemeClr val="dk1"/>
              </a:buClr>
              <a:buSzPts val="1600"/>
              <a:buFont typeface="Arial"/>
              <a:buChar char="•"/>
            </a:pPr>
            <a:r>
              <a:rPr lang="en-US" sz="1600" b="0" i="0" u="none" strike="noStrike" cap="none" dirty="0">
                <a:solidFill>
                  <a:schemeClr val="dk1"/>
                </a:solidFill>
                <a:latin typeface="Times New Roman"/>
                <a:ea typeface="Times New Roman"/>
                <a:cs typeface="Times New Roman"/>
                <a:sym typeface="Times New Roman"/>
              </a:rPr>
              <a:t>Introduction</a:t>
            </a:r>
          </a:p>
          <a:p>
            <a:pPr marL="285750" marR="0" lvl="0" indent="-209550" algn="l" rtl="0">
              <a:lnSpc>
                <a:spcPct val="150000"/>
              </a:lnSpc>
              <a:spcBef>
                <a:spcPts val="1000"/>
              </a:spcBef>
              <a:spcAft>
                <a:spcPts val="0"/>
              </a:spcAft>
              <a:buClr>
                <a:schemeClr val="dk1"/>
              </a:buClr>
              <a:buSzPts val="1600"/>
              <a:buFont typeface="Arial"/>
              <a:buChar char="•"/>
            </a:pPr>
            <a:r>
              <a:rPr lang="en-US" sz="1600" b="0" i="0" u="none" strike="noStrike" cap="none" dirty="0">
                <a:solidFill>
                  <a:schemeClr val="dk1"/>
                </a:solidFill>
                <a:latin typeface="Times New Roman"/>
                <a:ea typeface="Times New Roman"/>
                <a:cs typeface="Times New Roman"/>
                <a:sym typeface="Times New Roman"/>
              </a:rPr>
              <a:t>Git and Version Control</a:t>
            </a:r>
          </a:p>
          <a:p>
            <a:pPr marL="285750" marR="0" lvl="0" indent="-209550" algn="l" rtl="0">
              <a:lnSpc>
                <a:spcPct val="150000"/>
              </a:lnSpc>
              <a:spcBef>
                <a:spcPts val="1000"/>
              </a:spcBef>
              <a:spcAft>
                <a:spcPts val="0"/>
              </a:spcAft>
              <a:buClr>
                <a:schemeClr val="dk1"/>
              </a:buClr>
              <a:buSzPts val="1600"/>
              <a:buFont typeface="Arial"/>
              <a:buChar char="•"/>
            </a:pPr>
            <a:r>
              <a:rPr lang="en-US" sz="1600" b="0" i="0" u="none" strike="noStrike" cap="none" dirty="0">
                <a:solidFill>
                  <a:schemeClr val="dk1"/>
                </a:solidFill>
                <a:latin typeface="Times New Roman"/>
                <a:ea typeface="Times New Roman"/>
                <a:cs typeface="Times New Roman"/>
                <a:sym typeface="Times New Roman"/>
              </a:rPr>
              <a:t>UML Diagrams</a:t>
            </a:r>
          </a:p>
          <a:p>
            <a:pPr marL="285750" marR="0" lvl="0" indent="-209550" algn="l" rtl="0">
              <a:lnSpc>
                <a:spcPct val="150000"/>
              </a:lnSpc>
              <a:spcBef>
                <a:spcPts val="1000"/>
              </a:spcBef>
              <a:spcAft>
                <a:spcPts val="0"/>
              </a:spcAft>
              <a:buClr>
                <a:schemeClr val="dk1"/>
              </a:buClr>
              <a:buSzPts val="1600"/>
              <a:buFont typeface="Arial"/>
              <a:buChar char="•"/>
            </a:pPr>
            <a:r>
              <a:rPr lang="en-US" sz="1600" b="0" i="0" u="none" strike="noStrike" cap="none" dirty="0">
                <a:solidFill>
                  <a:schemeClr val="dk1"/>
                </a:solidFill>
                <a:latin typeface="Times New Roman"/>
                <a:ea typeface="Times New Roman"/>
                <a:cs typeface="Times New Roman"/>
                <a:sym typeface="Times New Roman"/>
              </a:rPr>
              <a:t>Frontend Design</a:t>
            </a:r>
          </a:p>
          <a:p>
            <a:pPr marL="285750" marR="0" lvl="0" indent="-209550" algn="l" rtl="0">
              <a:lnSpc>
                <a:spcPct val="150000"/>
              </a:lnSpc>
              <a:spcBef>
                <a:spcPts val="1000"/>
              </a:spcBef>
              <a:spcAft>
                <a:spcPts val="0"/>
              </a:spcAft>
              <a:buClr>
                <a:schemeClr val="dk1"/>
              </a:buClr>
              <a:buSzPts val="1600"/>
              <a:buFont typeface="Arial"/>
              <a:buChar char="•"/>
            </a:pPr>
            <a:r>
              <a:rPr lang="en-US" sz="1600" b="0" i="0" u="none" strike="noStrike" cap="none" dirty="0">
                <a:solidFill>
                  <a:schemeClr val="dk1"/>
                </a:solidFill>
                <a:latin typeface="Times New Roman"/>
                <a:ea typeface="Times New Roman"/>
                <a:cs typeface="Times New Roman"/>
                <a:sym typeface="Times New Roman"/>
              </a:rPr>
              <a:t>Database Schema</a:t>
            </a:r>
          </a:p>
          <a:p>
            <a:pPr marL="285750" marR="0" lvl="0" indent="-209550" algn="l" rtl="0">
              <a:lnSpc>
                <a:spcPct val="150000"/>
              </a:lnSpc>
              <a:spcBef>
                <a:spcPts val="1000"/>
              </a:spcBef>
              <a:spcAft>
                <a:spcPts val="0"/>
              </a:spcAft>
              <a:buClr>
                <a:schemeClr val="dk1"/>
              </a:buClr>
              <a:buSzPts val="1600"/>
              <a:buFont typeface="Arial"/>
              <a:buChar char="•"/>
            </a:pPr>
            <a:r>
              <a:rPr lang="en-US" sz="1600" b="0" i="0" u="none" strike="noStrike" cap="none" dirty="0">
                <a:solidFill>
                  <a:schemeClr val="dk1"/>
                </a:solidFill>
                <a:latin typeface="Times New Roman"/>
                <a:ea typeface="Times New Roman"/>
                <a:cs typeface="Times New Roman"/>
                <a:sym typeface="Times New Roman"/>
              </a:rPr>
              <a:t>Backend &amp; API Integration</a:t>
            </a:r>
          </a:p>
          <a:p>
            <a:pPr marL="285750" marR="0" lvl="0" indent="-209550" algn="l" rtl="0">
              <a:lnSpc>
                <a:spcPct val="150000"/>
              </a:lnSpc>
              <a:spcBef>
                <a:spcPts val="1000"/>
              </a:spcBef>
              <a:spcAft>
                <a:spcPts val="0"/>
              </a:spcAft>
              <a:buClr>
                <a:schemeClr val="dk1"/>
              </a:buClr>
              <a:buSzPts val="1600"/>
              <a:buFont typeface="Arial"/>
              <a:buChar char="•"/>
            </a:pPr>
            <a:r>
              <a:rPr lang="en-US" sz="1600" b="0" i="0" u="none" strike="noStrike" cap="none" dirty="0">
                <a:solidFill>
                  <a:schemeClr val="dk1"/>
                </a:solidFill>
                <a:latin typeface="Times New Roman"/>
                <a:ea typeface="Times New Roman"/>
                <a:cs typeface="Times New Roman"/>
                <a:sym typeface="Times New Roman"/>
              </a:rPr>
              <a:t>Testing Framework</a:t>
            </a:r>
          </a:p>
          <a:p>
            <a:pPr marL="285750" marR="0" lvl="0" indent="-209550" algn="l" rtl="0">
              <a:lnSpc>
                <a:spcPct val="150000"/>
              </a:lnSpc>
              <a:spcBef>
                <a:spcPts val="1000"/>
              </a:spcBef>
              <a:spcAft>
                <a:spcPts val="0"/>
              </a:spcAft>
              <a:buClr>
                <a:schemeClr val="dk1"/>
              </a:buClr>
              <a:buSzPts val="1600"/>
              <a:buFont typeface="Arial"/>
              <a:buChar char="•"/>
            </a:pPr>
            <a:r>
              <a:rPr lang="en-US" sz="1600" b="0" i="0" u="none" strike="noStrike" cap="none" dirty="0">
                <a:solidFill>
                  <a:schemeClr val="dk1"/>
                </a:solidFill>
                <a:latin typeface="Times New Roman"/>
                <a:ea typeface="Times New Roman"/>
                <a:cs typeface="Times New Roman"/>
                <a:sym typeface="Times New Roman"/>
              </a:rPr>
              <a:t>Hosting the Web Application</a:t>
            </a:r>
          </a:p>
          <a:p>
            <a:pPr marL="285750" marR="0" lvl="0" indent="-209550" algn="l" rtl="0">
              <a:lnSpc>
                <a:spcPct val="150000"/>
              </a:lnSpc>
              <a:spcBef>
                <a:spcPts val="1000"/>
              </a:spcBef>
              <a:spcAft>
                <a:spcPts val="0"/>
              </a:spcAft>
              <a:buClr>
                <a:schemeClr val="dk1"/>
              </a:buClr>
              <a:buSzPts val="1600"/>
              <a:buFont typeface="Arial"/>
              <a:buChar char="•"/>
            </a:pPr>
            <a:r>
              <a:rPr lang="en-US" sz="1600" b="0" i="0" u="none" strike="noStrike" cap="none" dirty="0">
                <a:solidFill>
                  <a:schemeClr val="dk1"/>
                </a:solidFill>
                <a:latin typeface="Times New Roman"/>
                <a:ea typeface="Times New Roman"/>
                <a:cs typeface="Times New Roman"/>
                <a:sym typeface="Times New Roman"/>
              </a:rPr>
              <a:t>Conclusion</a:t>
            </a:r>
            <a:endParaRPr sz="1600" b="0" i="0" u="none" strike="noStrike" cap="none" dirty="0">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g3a02e1ac065_0_0"/>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t" anchorCtr="0">
            <a:noAutofit/>
          </a:bodyPr>
          <a:lstStyle/>
          <a:p>
            <a:pPr marL="0" lvl="0" indent="0" algn="r" rtl="0">
              <a:spcBef>
                <a:spcPts val="0"/>
              </a:spcBef>
              <a:spcAft>
                <a:spcPts val="0"/>
              </a:spcAft>
              <a:buClr>
                <a:srgbClr val="000000"/>
              </a:buClr>
              <a:buSzPts val="1800"/>
              <a:buFont typeface="Arial"/>
              <a:buNone/>
            </a:pPr>
            <a:fld id="{00000000-1234-1234-1234-123412341234}" type="slidenum">
              <a:rPr lang="en-US"/>
              <a:t>3</a:t>
            </a:fld>
            <a:endParaRPr/>
          </a:p>
        </p:txBody>
      </p:sp>
      <p:sp>
        <p:nvSpPr>
          <p:cNvPr id="107" name="Google Shape;107;g3a02e1ac065_0_0"/>
          <p:cNvSpPr txBox="1">
            <a:spLocks noGrp="1"/>
          </p:cNvSpPr>
          <p:nvPr>
            <p:ph type="body" idx="1"/>
          </p:nvPr>
        </p:nvSpPr>
        <p:spPr>
          <a:xfrm>
            <a:off x="189186" y="1825625"/>
            <a:ext cx="11887200" cy="4351200"/>
          </a:xfrm>
          <a:prstGeom prst="rect">
            <a:avLst/>
          </a:prstGeom>
        </p:spPr>
        <p:txBody>
          <a:bodyPr spcFirstLastPara="1" wrap="square" lIns="91425" tIns="45700" rIns="91425" bIns="45700" anchor="t" anchorCtr="0">
            <a:noAutofit/>
          </a:bodyPr>
          <a:lstStyle/>
          <a:p>
            <a:pPr marL="0" lvl="0" indent="0">
              <a:buNone/>
            </a:pPr>
            <a:r>
              <a:rPr lang="en-GB" dirty="0" err="1"/>
              <a:t>LocalLink</a:t>
            </a:r>
            <a:r>
              <a:rPr lang="en-GB" dirty="0"/>
              <a:t> is a full-stack web platform that connects customers with nearby service providers such as electricians, plumbers, and cleaners. It includes user roles (customer, provider, admin), booking, complaint, and rating systems. The app uses Flask for backend, </a:t>
            </a:r>
            <a:r>
              <a:rPr lang="en-GB" dirty="0" err="1"/>
              <a:t>SQLAlchemy</a:t>
            </a:r>
            <a:r>
              <a:rPr lang="en-GB" dirty="0"/>
              <a:t> for database management, HTML/CSS/JS for frontend, and is deployed live on Render cloud.</a:t>
            </a:r>
            <a:endParaRPr dirty="0"/>
          </a:p>
        </p:txBody>
      </p:sp>
      <p:sp>
        <p:nvSpPr>
          <p:cNvPr id="108" name="Google Shape;108;g3a02e1ac065_0_0"/>
          <p:cNvSpPr txBox="1"/>
          <p:nvPr/>
        </p:nvSpPr>
        <p:spPr>
          <a:xfrm>
            <a:off x="3901148" y="656275"/>
            <a:ext cx="3712800" cy="523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1">
                <a:latin typeface="Times New Roman"/>
                <a:ea typeface="Times New Roman"/>
                <a:cs typeface="Times New Roman"/>
                <a:sym typeface="Times New Roman"/>
              </a:rPr>
              <a:t>INTRODUCTION</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g3a02e1ac065_0_12"/>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4</a:t>
            </a:fld>
            <a:endParaRPr/>
          </a:p>
        </p:txBody>
      </p:sp>
      <p:sp>
        <p:nvSpPr>
          <p:cNvPr id="115" name="Google Shape;115;g3a02e1ac065_0_12"/>
          <p:cNvSpPr txBox="1">
            <a:spLocks noGrp="1"/>
          </p:cNvSpPr>
          <p:nvPr>
            <p:ph type="body" idx="1"/>
          </p:nvPr>
        </p:nvSpPr>
        <p:spPr>
          <a:xfrm>
            <a:off x="189186" y="1825625"/>
            <a:ext cx="11887200" cy="4351200"/>
          </a:xfrm>
          <a:prstGeom prst="rect">
            <a:avLst/>
          </a:prstGeom>
        </p:spPr>
        <p:txBody>
          <a:bodyPr spcFirstLastPara="1" wrap="square" lIns="91425" tIns="45700" rIns="91425" bIns="45700" anchor="t" anchorCtr="0">
            <a:noAutofit/>
          </a:bodyPr>
          <a:lstStyle/>
          <a:p>
            <a:pPr marL="0" lvl="0" indent="0">
              <a:buNone/>
            </a:pPr>
            <a:r>
              <a:rPr lang="en-GB" dirty="0"/>
              <a:t>Git was used for version control and collaboration. Every feature update or bug fix was committed and pushed to GitHub, maintaining a clean development history. Branches helped separate testing and deployment versions. Git ensured backup, easy rollback, and team coordination throughout the project lifecycle.</a:t>
            </a:r>
            <a:endParaRPr dirty="0"/>
          </a:p>
        </p:txBody>
      </p:sp>
      <p:sp>
        <p:nvSpPr>
          <p:cNvPr id="116" name="Google Shape;116;g3a02e1ac065_0_12"/>
          <p:cNvSpPr txBox="1"/>
          <p:nvPr/>
        </p:nvSpPr>
        <p:spPr>
          <a:xfrm>
            <a:off x="3901148" y="656275"/>
            <a:ext cx="3712800" cy="954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1" dirty="0">
                <a:latin typeface="Times New Roman"/>
                <a:ea typeface="Times New Roman"/>
                <a:cs typeface="Times New Roman"/>
                <a:sym typeface="Times New Roman"/>
              </a:rPr>
              <a:t>Git and Version Control</a:t>
            </a:r>
            <a:endParaRPr sz="1400" b="0" i="0" u="none" strike="noStrike" cap="none" dirty="0">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4710835D-A555-27C6-6D1C-F7B6F49D118C}"/>
              </a:ext>
            </a:extLst>
          </p:cNvPr>
          <p:cNvPicPr>
            <a:picLocks noChangeAspect="1"/>
          </p:cNvPicPr>
          <p:nvPr/>
        </p:nvPicPr>
        <p:blipFill>
          <a:blip r:embed="rId3"/>
          <a:stretch>
            <a:fillRect/>
          </a:stretch>
        </p:blipFill>
        <p:spPr>
          <a:xfrm>
            <a:off x="1672659" y="3783309"/>
            <a:ext cx="8169777" cy="225587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3a02e1ac065_0_21"/>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5</a:t>
            </a:fld>
            <a:endParaRPr/>
          </a:p>
        </p:txBody>
      </p:sp>
      <p:sp>
        <p:nvSpPr>
          <p:cNvPr id="123" name="Google Shape;123;g3a02e1ac065_0_21"/>
          <p:cNvSpPr txBox="1">
            <a:spLocks noGrp="1"/>
          </p:cNvSpPr>
          <p:nvPr>
            <p:ph type="body" idx="1"/>
          </p:nvPr>
        </p:nvSpPr>
        <p:spPr>
          <a:xfrm>
            <a:off x="189186" y="1825625"/>
            <a:ext cx="11887200" cy="4351200"/>
          </a:xfrm>
          <a:prstGeom prst="rect">
            <a:avLst/>
          </a:prstGeom>
        </p:spPr>
        <p:txBody>
          <a:bodyPr spcFirstLastPara="1" wrap="square" lIns="91425" tIns="45700" rIns="91425" bIns="45700" anchor="t" anchorCtr="0">
            <a:noAutofit/>
          </a:bodyPr>
          <a:lstStyle/>
          <a:p>
            <a:pPr marL="50800" indent="0">
              <a:buNone/>
            </a:pPr>
            <a:r>
              <a:rPr lang="en-GB" dirty="0"/>
              <a:t>UML diagrams were created to visualize system </a:t>
            </a:r>
            <a:r>
              <a:rPr lang="en-GB" dirty="0" err="1"/>
              <a:t>behavior</a:t>
            </a:r>
            <a:r>
              <a:rPr lang="en-GB" dirty="0"/>
              <a:t> and structure.</a:t>
            </a:r>
          </a:p>
          <a:p>
            <a:r>
              <a:rPr lang="en-GB" b="1" dirty="0"/>
              <a:t>Use Case Diagram</a:t>
            </a:r>
            <a:r>
              <a:rPr lang="en-GB" dirty="0"/>
              <a:t> shows interactions between users and the system.</a:t>
            </a:r>
          </a:p>
          <a:p>
            <a:r>
              <a:rPr lang="en-GB" b="1" dirty="0"/>
              <a:t>Class Diagram</a:t>
            </a:r>
            <a:r>
              <a:rPr lang="en-GB" dirty="0"/>
              <a:t> represents relationships among User, Service, Booking, Complaint, and Chat classes.</a:t>
            </a:r>
          </a:p>
          <a:p>
            <a:r>
              <a:rPr lang="en-GB" b="1" dirty="0"/>
              <a:t>Sequence Diagram</a:t>
            </a:r>
            <a:r>
              <a:rPr lang="en-GB" dirty="0"/>
              <a:t> explains data flow during booking and communication.</a:t>
            </a:r>
            <a:br>
              <a:rPr lang="en-GB" dirty="0"/>
            </a:br>
            <a:r>
              <a:rPr lang="en-GB" dirty="0"/>
              <a:t>These diagrams provide a clear understanding of the architecture before coding.</a:t>
            </a:r>
          </a:p>
        </p:txBody>
      </p:sp>
      <p:sp>
        <p:nvSpPr>
          <p:cNvPr id="124" name="Google Shape;124;g3a02e1ac065_0_21"/>
          <p:cNvSpPr txBox="1"/>
          <p:nvPr/>
        </p:nvSpPr>
        <p:spPr>
          <a:xfrm>
            <a:off x="3901148" y="656275"/>
            <a:ext cx="3712800"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1" dirty="0">
                <a:latin typeface="Times New Roman"/>
                <a:ea typeface="Times New Roman"/>
                <a:cs typeface="Times New Roman"/>
                <a:sym typeface="Times New Roman"/>
              </a:rPr>
              <a:t>UML Diagrams</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1">
          <a:extLst>
            <a:ext uri="{FF2B5EF4-FFF2-40B4-BE49-F238E27FC236}">
              <a16:creationId xmlns:a16="http://schemas.microsoft.com/office/drawing/2014/main" id="{465BF91E-E469-1120-76D4-45960297ED2C}"/>
            </a:ext>
          </a:extLst>
        </p:cNvPr>
        <p:cNvGrpSpPr/>
        <p:nvPr/>
      </p:nvGrpSpPr>
      <p:grpSpPr>
        <a:xfrm>
          <a:off x="0" y="0"/>
          <a:ext cx="0" cy="0"/>
          <a:chOff x="0" y="0"/>
          <a:chExt cx="0" cy="0"/>
        </a:xfrm>
      </p:grpSpPr>
      <p:sp>
        <p:nvSpPr>
          <p:cNvPr id="122" name="Google Shape;122;g3a02e1ac065_0_21">
            <a:extLst>
              <a:ext uri="{FF2B5EF4-FFF2-40B4-BE49-F238E27FC236}">
                <a16:creationId xmlns:a16="http://schemas.microsoft.com/office/drawing/2014/main" id="{AA33C7CE-838D-C4F5-C6F1-6D3CD0FB5F4C}"/>
              </a:ext>
            </a:extLst>
          </p:cNvPr>
          <p:cNvSpPr txBox="1">
            <a:spLocks noGrp="1"/>
          </p:cNvSpPr>
          <p:nvPr>
            <p:ph type="sldNum" idx="12"/>
          </p:nvPr>
        </p:nvSpPr>
        <p:spPr>
          <a:prstGeom prst="rect">
            <a:avLst/>
          </a:prstGeom>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6</a:t>
            </a:fld>
            <a:endParaRPr/>
          </a:p>
        </p:txBody>
      </p:sp>
      <p:pic>
        <p:nvPicPr>
          <p:cNvPr id="5" name="Picture 4">
            <a:extLst>
              <a:ext uri="{FF2B5EF4-FFF2-40B4-BE49-F238E27FC236}">
                <a16:creationId xmlns:a16="http://schemas.microsoft.com/office/drawing/2014/main" id="{F863FA6E-076A-536A-059E-F65D1A77F1FB}"/>
              </a:ext>
            </a:extLst>
          </p:cNvPr>
          <p:cNvPicPr>
            <a:picLocks noChangeAspect="1"/>
          </p:cNvPicPr>
          <p:nvPr/>
        </p:nvPicPr>
        <p:blipFill>
          <a:blip r:embed="rId3"/>
          <a:stretch>
            <a:fillRect/>
          </a:stretch>
        </p:blipFill>
        <p:spPr>
          <a:xfrm>
            <a:off x="1165622" y="1393612"/>
            <a:ext cx="3078419" cy="4840500"/>
          </a:xfrm>
          <a:prstGeom prst="rect">
            <a:avLst/>
          </a:prstGeom>
        </p:spPr>
      </p:pic>
      <p:sp>
        <p:nvSpPr>
          <p:cNvPr id="7" name="Google Shape;124;g3a02e1ac065_0_21">
            <a:extLst>
              <a:ext uri="{FF2B5EF4-FFF2-40B4-BE49-F238E27FC236}">
                <a16:creationId xmlns:a16="http://schemas.microsoft.com/office/drawing/2014/main" id="{FC86832A-88AA-5606-A774-5E255C1ADFA7}"/>
              </a:ext>
            </a:extLst>
          </p:cNvPr>
          <p:cNvSpPr txBox="1"/>
          <p:nvPr/>
        </p:nvSpPr>
        <p:spPr>
          <a:xfrm>
            <a:off x="1000832" y="471488"/>
            <a:ext cx="3712800" cy="707846"/>
          </a:xfrm>
          <a:prstGeom prst="rect">
            <a:avLst/>
          </a:prstGeom>
          <a:noFill/>
          <a:ln>
            <a:noFill/>
          </a:ln>
        </p:spPr>
        <p:txBody>
          <a:bodyPr spcFirstLastPara="1" wrap="square" lIns="91425" tIns="45700" rIns="91425" bIns="45700" anchor="t" anchorCtr="0">
            <a:spAutoFit/>
          </a:bodyPr>
          <a:lstStyle/>
          <a:p>
            <a:pPr lvl="0" algn="ctr">
              <a:buSzPts val="2800"/>
            </a:pPr>
            <a:r>
              <a:rPr lang="en-US" sz="2000" b="1" dirty="0">
                <a:latin typeface="Times New Roman"/>
                <a:ea typeface="Times New Roman"/>
                <a:cs typeface="Times New Roman"/>
                <a:sym typeface="Times New Roman"/>
              </a:rPr>
              <a:t>Class Diagram (Backend structure — Flask + Models)</a:t>
            </a:r>
            <a:endParaRPr sz="2000" b="0" i="0" u="none" strike="noStrike" cap="none" dirty="0">
              <a:solidFill>
                <a:srgbClr val="000000"/>
              </a:solidFill>
              <a:latin typeface="Arial"/>
              <a:ea typeface="Arial"/>
              <a:cs typeface="Arial"/>
              <a:sym typeface="Arial"/>
            </a:endParaRPr>
          </a:p>
        </p:txBody>
      </p:sp>
      <p:pic>
        <p:nvPicPr>
          <p:cNvPr id="4" name="Picture 3">
            <a:extLst>
              <a:ext uri="{FF2B5EF4-FFF2-40B4-BE49-F238E27FC236}">
                <a16:creationId xmlns:a16="http://schemas.microsoft.com/office/drawing/2014/main" id="{8EA5EC20-B54A-F77E-3991-82108662B54D}"/>
              </a:ext>
            </a:extLst>
          </p:cNvPr>
          <p:cNvPicPr>
            <a:picLocks noChangeAspect="1"/>
          </p:cNvPicPr>
          <p:nvPr/>
        </p:nvPicPr>
        <p:blipFill>
          <a:blip r:embed="rId4"/>
          <a:stretch>
            <a:fillRect/>
          </a:stretch>
        </p:blipFill>
        <p:spPr>
          <a:xfrm>
            <a:off x="5698254" y="2422729"/>
            <a:ext cx="5824691" cy="2782266"/>
          </a:xfrm>
          <a:prstGeom prst="rect">
            <a:avLst/>
          </a:prstGeom>
        </p:spPr>
      </p:pic>
      <p:sp>
        <p:nvSpPr>
          <p:cNvPr id="2" name="Google Shape;124;g3a02e1ac065_0_21">
            <a:extLst>
              <a:ext uri="{FF2B5EF4-FFF2-40B4-BE49-F238E27FC236}">
                <a16:creationId xmlns:a16="http://schemas.microsoft.com/office/drawing/2014/main" id="{5C899CBB-14F6-F06D-C769-08F564C17A35}"/>
              </a:ext>
            </a:extLst>
          </p:cNvPr>
          <p:cNvSpPr txBox="1"/>
          <p:nvPr/>
        </p:nvSpPr>
        <p:spPr>
          <a:xfrm>
            <a:off x="7641000" y="471028"/>
            <a:ext cx="3712800" cy="95406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1" dirty="0">
                <a:latin typeface="Times New Roman"/>
                <a:ea typeface="Times New Roman"/>
                <a:cs typeface="Times New Roman"/>
                <a:sym typeface="Times New Roman"/>
              </a:rPr>
              <a:t>Sequence Diagram (Booking Flow)</a:t>
            </a:r>
            <a:endParaRPr lang="en-US"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26606077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1">
          <a:extLst>
            <a:ext uri="{FF2B5EF4-FFF2-40B4-BE49-F238E27FC236}">
              <a16:creationId xmlns:a16="http://schemas.microsoft.com/office/drawing/2014/main" id="{4E3EA7E0-1FA9-F723-712D-B2DE816F10AF}"/>
            </a:ext>
          </a:extLst>
        </p:cNvPr>
        <p:cNvGrpSpPr/>
        <p:nvPr/>
      </p:nvGrpSpPr>
      <p:grpSpPr>
        <a:xfrm>
          <a:off x="0" y="0"/>
          <a:ext cx="0" cy="0"/>
          <a:chOff x="0" y="0"/>
          <a:chExt cx="0" cy="0"/>
        </a:xfrm>
      </p:grpSpPr>
      <p:sp>
        <p:nvSpPr>
          <p:cNvPr id="122" name="Google Shape;122;g3a02e1ac065_0_21">
            <a:extLst>
              <a:ext uri="{FF2B5EF4-FFF2-40B4-BE49-F238E27FC236}">
                <a16:creationId xmlns:a16="http://schemas.microsoft.com/office/drawing/2014/main" id="{025F83DE-1CF8-B18E-D797-CD3117D8F4BA}"/>
              </a:ext>
            </a:extLst>
          </p:cNvPr>
          <p:cNvSpPr txBox="1">
            <a:spLocks noGrp="1"/>
          </p:cNvSpPr>
          <p:nvPr>
            <p:ph type="sldNum" idx="12"/>
          </p:nvPr>
        </p:nvSpPr>
        <p:spPr>
          <a:prstGeom prst="rect">
            <a:avLst/>
          </a:prstGeom>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7</a:t>
            </a:fld>
            <a:endParaRPr/>
          </a:p>
        </p:txBody>
      </p:sp>
      <p:sp>
        <p:nvSpPr>
          <p:cNvPr id="7" name="Google Shape;124;g3a02e1ac065_0_21">
            <a:extLst>
              <a:ext uri="{FF2B5EF4-FFF2-40B4-BE49-F238E27FC236}">
                <a16:creationId xmlns:a16="http://schemas.microsoft.com/office/drawing/2014/main" id="{8537581C-8202-B71A-F513-214EF25D7F03}"/>
              </a:ext>
            </a:extLst>
          </p:cNvPr>
          <p:cNvSpPr txBox="1"/>
          <p:nvPr/>
        </p:nvSpPr>
        <p:spPr>
          <a:xfrm>
            <a:off x="4239600" y="451824"/>
            <a:ext cx="3712800" cy="1384954"/>
          </a:xfrm>
          <a:prstGeom prst="rect">
            <a:avLst/>
          </a:prstGeom>
          <a:noFill/>
          <a:ln>
            <a:noFill/>
          </a:ln>
        </p:spPr>
        <p:txBody>
          <a:bodyPr spcFirstLastPara="1" wrap="square" lIns="91425" tIns="45700" rIns="91425" bIns="45700" anchor="t" anchorCtr="0">
            <a:spAutoFit/>
          </a:bodyPr>
          <a:lstStyle/>
          <a:p>
            <a:pPr lvl="0" algn="ctr">
              <a:buSzPts val="2800"/>
            </a:pPr>
            <a:r>
              <a:rPr lang="en-US" sz="2800" b="1" dirty="0">
                <a:latin typeface="Times New Roman"/>
                <a:ea typeface="Times New Roman"/>
                <a:cs typeface="Times New Roman"/>
                <a:sym typeface="Times New Roman"/>
              </a:rPr>
              <a:t>Use Case Diagram (High-level system view)</a:t>
            </a:r>
            <a:endParaRPr lang="en-US" sz="1400" b="0" i="0" u="none" strike="noStrike" cap="none" dirty="0">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06D5D4A9-34A9-34CB-DF10-BCD6C48B436F}"/>
              </a:ext>
            </a:extLst>
          </p:cNvPr>
          <p:cNvPicPr>
            <a:picLocks noChangeAspect="1"/>
          </p:cNvPicPr>
          <p:nvPr/>
        </p:nvPicPr>
        <p:blipFill>
          <a:blip r:embed="rId3"/>
          <a:stretch>
            <a:fillRect/>
          </a:stretch>
        </p:blipFill>
        <p:spPr>
          <a:xfrm>
            <a:off x="0" y="2897013"/>
            <a:ext cx="12192000" cy="1063973"/>
          </a:xfrm>
          <a:prstGeom prst="rect">
            <a:avLst/>
          </a:prstGeom>
        </p:spPr>
      </p:pic>
    </p:spTree>
    <p:extLst>
      <p:ext uri="{BB962C8B-B14F-4D97-AF65-F5344CB8AC3E}">
        <p14:creationId xmlns:p14="http://schemas.microsoft.com/office/powerpoint/2010/main" val="37526380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1">
          <a:extLst>
            <a:ext uri="{FF2B5EF4-FFF2-40B4-BE49-F238E27FC236}">
              <a16:creationId xmlns:a16="http://schemas.microsoft.com/office/drawing/2014/main" id="{CECAD6A1-E7F0-8AD5-4227-8FC081A0275D}"/>
            </a:ext>
          </a:extLst>
        </p:cNvPr>
        <p:cNvGrpSpPr/>
        <p:nvPr/>
      </p:nvGrpSpPr>
      <p:grpSpPr>
        <a:xfrm>
          <a:off x="0" y="0"/>
          <a:ext cx="0" cy="0"/>
          <a:chOff x="0" y="0"/>
          <a:chExt cx="0" cy="0"/>
        </a:xfrm>
      </p:grpSpPr>
      <p:sp>
        <p:nvSpPr>
          <p:cNvPr id="122" name="Google Shape;122;g3a02e1ac065_0_21">
            <a:extLst>
              <a:ext uri="{FF2B5EF4-FFF2-40B4-BE49-F238E27FC236}">
                <a16:creationId xmlns:a16="http://schemas.microsoft.com/office/drawing/2014/main" id="{512156BD-B811-DE70-4EE5-39BE9D25EC4D}"/>
              </a:ext>
            </a:extLst>
          </p:cNvPr>
          <p:cNvSpPr txBox="1">
            <a:spLocks noGrp="1"/>
          </p:cNvSpPr>
          <p:nvPr>
            <p:ph type="sldNum" idx="12"/>
          </p:nvPr>
        </p:nvSpPr>
        <p:spPr>
          <a:prstGeom prst="rect">
            <a:avLst/>
          </a:prstGeom>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8</a:t>
            </a:fld>
            <a:endParaRPr/>
          </a:p>
        </p:txBody>
      </p:sp>
      <p:pic>
        <p:nvPicPr>
          <p:cNvPr id="9" name="Picture 8">
            <a:extLst>
              <a:ext uri="{FF2B5EF4-FFF2-40B4-BE49-F238E27FC236}">
                <a16:creationId xmlns:a16="http://schemas.microsoft.com/office/drawing/2014/main" id="{60366F27-D0C0-421D-933D-5372284908C2}"/>
              </a:ext>
            </a:extLst>
          </p:cNvPr>
          <p:cNvPicPr>
            <a:picLocks noChangeAspect="1"/>
          </p:cNvPicPr>
          <p:nvPr/>
        </p:nvPicPr>
        <p:blipFill>
          <a:blip r:embed="rId3"/>
          <a:stretch>
            <a:fillRect/>
          </a:stretch>
        </p:blipFill>
        <p:spPr>
          <a:xfrm>
            <a:off x="2201842" y="1693914"/>
            <a:ext cx="7788316" cy="3470171"/>
          </a:xfrm>
          <a:prstGeom prst="rect">
            <a:avLst/>
          </a:prstGeom>
        </p:spPr>
      </p:pic>
      <p:sp>
        <p:nvSpPr>
          <p:cNvPr id="124" name="Google Shape;124;g3a02e1ac065_0_21">
            <a:extLst>
              <a:ext uri="{FF2B5EF4-FFF2-40B4-BE49-F238E27FC236}">
                <a16:creationId xmlns:a16="http://schemas.microsoft.com/office/drawing/2014/main" id="{FEA53744-9AA3-0B16-46FC-A8D6688A06FB}"/>
              </a:ext>
            </a:extLst>
          </p:cNvPr>
          <p:cNvSpPr txBox="1"/>
          <p:nvPr/>
        </p:nvSpPr>
        <p:spPr>
          <a:xfrm>
            <a:off x="4239600" y="274264"/>
            <a:ext cx="3712800"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1" dirty="0">
                <a:latin typeface="Times New Roman"/>
                <a:ea typeface="Times New Roman"/>
                <a:cs typeface="Times New Roman"/>
                <a:sym typeface="Times New Roman"/>
              </a:rPr>
              <a:t>Deployment Diagram</a:t>
            </a: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38074044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g3a02e1ac065_0_41"/>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9</a:t>
            </a:fld>
            <a:endParaRPr/>
          </a:p>
        </p:txBody>
      </p:sp>
      <p:sp>
        <p:nvSpPr>
          <p:cNvPr id="141" name="Google Shape;141;g3a02e1ac065_0_41"/>
          <p:cNvSpPr txBox="1">
            <a:spLocks noGrp="1"/>
          </p:cNvSpPr>
          <p:nvPr>
            <p:ph type="body" idx="1"/>
          </p:nvPr>
        </p:nvSpPr>
        <p:spPr>
          <a:xfrm>
            <a:off x="189186" y="1253400"/>
            <a:ext cx="11887200" cy="4351200"/>
          </a:xfrm>
          <a:prstGeom prst="rect">
            <a:avLst/>
          </a:prstGeom>
        </p:spPr>
        <p:txBody>
          <a:bodyPr spcFirstLastPara="1" wrap="square" lIns="91425" tIns="45700" rIns="91425" bIns="45700" anchor="t" anchorCtr="0">
            <a:noAutofit/>
          </a:bodyPr>
          <a:lstStyle/>
          <a:p>
            <a:r>
              <a:rPr lang="en-IN" dirty="0"/>
              <a:t>The frontend was built using </a:t>
            </a:r>
            <a:r>
              <a:rPr lang="en-IN" b="1" dirty="0"/>
              <a:t>HTML5</a:t>
            </a:r>
            <a:r>
              <a:rPr lang="en-IN" dirty="0"/>
              <a:t>, </a:t>
            </a:r>
            <a:r>
              <a:rPr lang="en-IN" b="1" dirty="0"/>
              <a:t>CSS3</a:t>
            </a:r>
            <a:r>
              <a:rPr lang="en-IN" dirty="0"/>
              <a:t>, </a:t>
            </a:r>
            <a:r>
              <a:rPr lang="en-IN" b="1" dirty="0"/>
              <a:t>JavaScript</a:t>
            </a:r>
            <a:r>
              <a:rPr lang="en-IN" dirty="0"/>
              <a:t>, and </a:t>
            </a:r>
            <a:r>
              <a:rPr lang="en-IN" b="1" dirty="0"/>
              <a:t>Bootstrap 5</a:t>
            </a:r>
            <a:r>
              <a:rPr lang="en-IN" dirty="0"/>
              <a:t> for responsiveness. Templates were rendered via Flask’s </a:t>
            </a:r>
            <a:r>
              <a:rPr lang="en-IN" b="1" dirty="0"/>
              <a:t>Jinja2</a:t>
            </a:r>
            <a:r>
              <a:rPr lang="en-IN" dirty="0"/>
              <a:t> engine. The interface includes pages for login, registration, profile, service listings, complaints, and an admin dashboard. Focus was on simple navigation, clean UI, and mobile-friendly layouts for smooth user experience.</a:t>
            </a:r>
          </a:p>
        </p:txBody>
      </p:sp>
      <p:sp>
        <p:nvSpPr>
          <p:cNvPr id="142" name="Google Shape;142;g3a02e1ac065_0_41"/>
          <p:cNvSpPr txBox="1"/>
          <p:nvPr/>
        </p:nvSpPr>
        <p:spPr>
          <a:xfrm>
            <a:off x="3901148" y="656275"/>
            <a:ext cx="3712800"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1" dirty="0">
                <a:latin typeface="Times New Roman"/>
                <a:ea typeface="Times New Roman"/>
                <a:cs typeface="Times New Roman"/>
                <a:sym typeface="Times New Roman"/>
              </a:rPr>
              <a:t>Frontend Design</a:t>
            </a:r>
            <a:endParaRPr sz="1400" b="0" i="0" u="none" strike="noStrike" cap="none" dirty="0">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A0C410EE-A963-CAEB-29CD-78A605EEE426}"/>
              </a:ext>
            </a:extLst>
          </p:cNvPr>
          <p:cNvPicPr>
            <a:picLocks noChangeAspect="1"/>
          </p:cNvPicPr>
          <p:nvPr/>
        </p:nvPicPr>
        <p:blipFill>
          <a:blip r:embed="rId3"/>
          <a:stretch>
            <a:fillRect/>
          </a:stretch>
        </p:blipFill>
        <p:spPr>
          <a:xfrm>
            <a:off x="189186" y="3482088"/>
            <a:ext cx="5309419" cy="2498387"/>
          </a:xfrm>
          <a:prstGeom prst="rect">
            <a:avLst/>
          </a:prstGeom>
        </p:spPr>
      </p:pic>
      <p:pic>
        <p:nvPicPr>
          <p:cNvPr id="5" name="Picture 4">
            <a:extLst>
              <a:ext uri="{FF2B5EF4-FFF2-40B4-BE49-F238E27FC236}">
                <a16:creationId xmlns:a16="http://schemas.microsoft.com/office/drawing/2014/main" id="{FCFBBDE8-59AA-AE83-5D99-5D7C908D1C6F}"/>
              </a:ext>
            </a:extLst>
          </p:cNvPr>
          <p:cNvPicPr>
            <a:picLocks noChangeAspect="1"/>
          </p:cNvPicPr>
          <p:nvPr/>
        </p:nvPicPr>
        <p:blipFill>
          <a:blip r:embed="rId4"/>
          <a:stretch>
            <a:fillRect/>
          </a:stretch>
        </p:blipFill>
        <p:spPr>
          <a:xfrm>
            <a:off x="6447588" y="3429000"/>
            <a:ext cx="5382991" cy="252722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9">
          <a:extLst>
            <a:ext uri="{FF2B5EF4-FFF2-40B4-BE49-F238E27FC236}">
              <a16:creationId xmlns:a16="http://schemas.microsoft.com/office/drawing/2014/main" id="{CBF698F0-1778-13B5-9FDD-C5D0A8747F9F}"/>
            </a:ext>
          </a:extLst>
        </p:cNvPr>
        <p:cNvGrpSpPr/>
        <p:nvPr/>
      </p:nvGrpSpPr>
      <p:grpSpPr>
        <a:xfrm>
          <a:off x="0" y="0"/>
          <a:ext cx="0" cy="0"/>
          <a:chOff x="0" y="0"/>
          <a:chExt cx="0" cy="0"/>
        </a:xfrm>
      </p:grpSpPr>
      <p:sp>
        <p:nvSpPr>
          <p:cNvPr id="140" name="Google Shape;140;g3a02e1ac065_0_41">
            <a:extLst>
              <a:ext uri="{FF2B5EF4-FFF2-40B4-BE49-F238E27FC236}">
                <a16:creationId xmlns:a16="http://schemas.microsoft.com/office/drawing/2014/main" id="{BED2DFB8-BC62-F0FE-1605-EA661A7D09E3}"/>
              </a:ext>
            </a:extLst>
          </p:cNvPr>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10</a:t>
            </a:fld>
            <a:endParaRPr/>
          </a:p>
        </p:txBody>
      </p:sp>
      <p:sp>
        <p:nvSpPr>
          <p:cNvPr id="141" name="Google Shape;141;g3a02e1ac065_0_41">
            <a:extLst>
              <a:ext uri="{FF2B5EF4-FFF2-40B4-BE49-F238E27FC236}">
                <a16:creationId xmlns:a16="http://schemas.microsoft.com/office/drawing/2014/main" id="{08500D28-CEBD-5B2D-3C0C-4E4EA3435CDA}"/>
              </a:ext>
            </a:extLst>
          </p:cNvPr>
          <p:cNvSpPr txBox="1">
            <a:spLocks noGrp="1"/>
          </p:cNvSpPr>
          <p:nvPr>
            <p:ph type="body" idx="1"/>
          </p:nvPr>
        </p:nvSpPr>
        <p:spPr>
          <a:xfrm>
            <a:off x="189186" y="1825625"/>
            <a:ext cx="11887200" cy="4351200"/>
          </a:xfrm>
          <a:prstGeom prst="rect">
            <a:avLst/>
          </a:prstGeom>
        </p:spPr>
        <p:txBody>
          <a:bodyPr spcFirstLastPara="1" wrap="square" lIns="91425" tIns="45700" rIns="91425" bIns="45700" anchor="t" anchorCtr="0">
            <a:noAutofit/>
          </a:bodyPr>
          <a:lstStyle/>
          <a:p>
            <a:pPr marL="50800" indent="0">
              <a:buNone/>
            </a:pPr>
            <a:r>
              <a:rPr lang="en-GB" dirty="0"/>
              <a:t>The database is built with </a:t>
            </a:r>
            <a:r>
              <a:rPr lang="en-GB" b="1" dirty="0"/>
              <a:t>SQLite</a:t>
            </a:r>
            <a:r>
              <a:rPr lang="en-GB" dirty="0"/>
              <a:t> using </a:t>
            </a:r>
            <a:r>
              <a:rPr lang="en-GB" b="1" dirty="0" err="1"/>
              <a:t>SQLAlchemy</a:t>
            </a:r>
            <a:r>
              <a:rPr lang="en-GB" b="1" dirty="0"/>
              <a:t> ORM</a:t>
            </a:r>
            <a:r>
              <a:rPr lang="en-GB" dirty="0"/>
              <a:t>.</a:t>
            </a:r>
            <a:br>
              <a:rPr lang="en-GB" dirty="0"/>
            </a:br>
            <a:r>
              <a:rPr lang="en-GB" dirty="0"/>
              <a:t>Key tables include:</a:t>
            </a:r>
          </a:p>
          <a:p>
            <a:r>
              <a:rPr lang="en-GB" b="1" dirty="0"/>
              <a:t>User:</a:t>
            </a:r>
            <a:r>
              <a:rPr lang="en-GB" dirty="0"/>
              <a:t> stores user info, roles, and login details</a:t>
            </a:r>
          </a:p>
          <a:p>
            <a:r>
              <a:rPr lang="en-GB" b="1" dirty="0"/>
              <a:t>Service:</a:t>
            </a:r>
            <a:r>
              <a:rPr lang="en-GB" dirty="0"/>
              <a:t> provider’s service listings</a:t>
            </a:r>
          </a:p>
          <a:p>
            <a:r>
              <a:rPr lang="en-GB" b="1" dirty="0"/>
              <a:t>Booking:</a:t>
            </a:r>
            <a:r>
              <a:rPr lang="en-GB" dirty="0"/>
              <a:t> links customers to services</a:t>
            </a:r>
          </a:p>
          <a:p>
            <a:r>
              <a:rPr lang="en-GB" b="1" dirty="0"/>
              <a:t>Complaint &amp; Chat:</a:t>
            </a:r>
            <a:r>
              <a:rPr lang="en-GB" dirty="0"/>
              <a:t> manage communication and feedback</a:t>
            </a:r>
            <a:br>
              <a:rPr lang="en-GB" dirty="0"/>
            </a:br>
            <a:r>
              <a:rPr lang="en-GB" dirty="0"/>
              <a:t>Relationships between entities ensure data integrity and efficient querying.</a:t>
            </a:r>
          </a:p>
        </p:txBody>
      </p:sp>
      <p:sp>
        <p:nvSpPr>
          <p:cNvPr id="142" name="Google Shape;142;g3a02e1ac065_0_41">
            <a:extLst>
              <a:ext uri="{FF2B5EF4-FFF2-40B4-BE49-F238E27FC236}">
                <a16:creationId xmlns:a16="http://schemas.microsoft.com/office/drawing/2014/main" id="{C30576ED-F5A0-ABDA-AF3F-EE9D53DBECFD}"/>
              </a:ext>
            </a:extLst>
          </p:cNvPr>
          <p:cNvSpPr txBox="1"/>
          <p:nvPr/>
        </p:nvSpPr>
        <p:spPr>
          <a:xfrm>
            <a:off x="3901148" y="656275"/>
            <a:ext cx="3712800"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1" dirty="0">
                <a:latin typeface="Times New Roman"/>
                <a:ea typeface="Times New Roman"/>
                <a:cs typeface="Times New Roman"/>
                <a:sym typeface="Times New Roman"/>
              </a:rPr>
              <a:t>Database Schema</a:t>
            </a: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38916546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g3a02e1ac065_0_49"/>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11</a:t>
            </a:fld>
            <a:endParaRPr/>
          </a:p>
        </p:txBody>
      </p:sp>
      <p:sp>
        <p:nvSpPr>
          <p:cNvPr id="149" name="Google Shape;149;g3a02e1ac065_0_49"/>
          <p:cNvSpPr txBox="1"/>
          <p:nvPr/>
        </p:nvSpPr>
        <p:spPr>
          <a:xfrm>
            <a:off x="4239600" y="0"/>
            <a:ext cx="3712800" cy="95406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1" i="0" u="none" strike="noStrike" cap="none" dirty="0">
                <a:solidFill>
                  <a:srgbClr val="000000"/>
                </a:solidFill>
                <a:latin typeface="Times New Roman"/>
                <a:cs typeface="Times New Roman"/>
                <a:sym typeface="Times New Roman"/>
              </a:rPr>
              <a:t>Database Schema Diagram</a:t>
            </a:r>
          </a:p>
        </p:txBody>
      </p:sp>
      <p:pic>
        <p:nvPicPr>
          <p:cNvPr id="3" name="Picture 2">
            <a:extLst>
              <a:ext uri="{FF2B5EF4-FFF2-40B4-BE49-F238E27FC236}">
                <a16:creationId xmlns:a16="http://schemas.microsoft.com/office/drawing/2014/main" id="{9E9A0B29-B495-204E-121A-37B5EE284DEB}"/>
              </a:ext>
            </a:extLst>
          </p:cNvPr>
          <p:cNvPicPr>
            <a:picLocks noChangeAspect="1"/>
          </p:cNvPicPr>
          <p:nvPr/>
        </p:nvPicPr>
        <p:blipFill>
          <a:blip r:embed="rId3"/>
          <a:stretch>
            <a:fillRect/>
          </a:stretch>
        </p:blipFill>
        <p:spPr>
          <a:xfrm>
            <a:off x="2080598" y="954067"/>
            <a:ext cx="8030804" cy="512879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9">
          <a:extLst>
            <a:ext uri="{FF2B5EF4-FFF2-40B4-BE49-F238E27FC236}">
              <a16:creationId xmlns:a16="http://schemas.microsoft.com/office/drawing/2014/main" id="{48D042E3-CFDB-2DBD-C66F-44C0DD41EAC4}"/>
            </a:ext>
          </a:extLst>
        </p:cNvPr>
        <p:cNvGrpSpPr/>
        <p:nvPr/>
      </p:nvGrpSpPr>
      <p:grpSpPr>
        <a:xfrm>
          <a:off x="0" y="0"/>
          <a:ext cx="0" cy="0"/>
          <a:chOff x="0" y="0"/>
          <a:chExt cx="0" cy="0"/>
        </a:xfrm>
      </p:grpSpPr>
      <p:sp>
        <p:nvSpPr>
          <p:cNvPr id="140" name="Google Shape;140;g3a02e1ac065_0_41">
            <a:extLst>
              <a:ext uri="{FF2B5EF4-FFF2-40B4-BE49-F238E27FC236}">
                <a16:creationId xmlns:a16="http://schemas.microsoft.com/office/drawing/2014/main" id="{39E00B7D-ECA3-0FAE-272A-E8347043F7B4}"/>
              </a:ext>
            </a:extLst>
          </p:cNvPr>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12</a:t>
            </a:fld>
            <a:endParaRPr/>
          </a:p>
        </p:txBody>
      </p:sp>
      <p:sp>
        <p:nvSpPr>
          <p:cNvPr id="141" name="Google Shape;141;g3a02e1ac065_0_41">
            <a:extLst>
              <a:ext uri="{FF2B5EF4-FFF2-40B4-BE49-F238E27FC236}">
                <a16:creationId xmlns:a16="http://schemas.microsoft.com/office/drawing/2014/main" id="{62DCC86A-F97E-A9E6-7EB3-5B29F393FC3D}"/>
              </a:ext>
            </a:extLst>
          </p:cNvPr>
          <p:cNvSpPr txBox="1">
            <a:spLocks noGrp="1"/>
          </p:cNvSpPr>
          <p:nvPr>
            <p:ph type="body" idx="1"/>
          </p:nvPr>
        </p:nvSpPr>
        <p:spPr>
          <a:xfrm>
            <a:off x="189186" y="1825625"/>
            <a:ext cx="11887200" cy="4351200"/>
          </a:xfrm>
          <a:prstGeom prst="rect">
            <a:avLst/>
          </a:prstGeom>
        </p:spPr>
        <p:txBody>
          <a:bodyPr spcFirstLastPara="1" wrap="square" lIns="91425" tIns="45700" rIns="91425" bIns="45700" anchor="t" anchorCtr="0">
            <a:noAutofit/>
          </a:bodyPr>
          <a:lstStyle/>
          <a:p>
            <a:pPr marL="50800" indent="0">
              <a:buNone/>
            </a:pPr>
            <a:r>
              <a:rPr lang="en-GB" dirty="0"/>
              <a:t>The backend is powered by </a:t>
            </a:r>
            <a:r>
              <a:rPr lang="en-GB" b="1" dirty="0"/>
              <a:t>Flask</a:t>
            </a:r>
            <a:r>
              <a:rPr lang="en-GB" dirty="0"/>
              <a:t>, handling routing, authentication, and CRUD operations. APIs are integrated for features like user login, service creation, and booking. Flask-Login manages sessions, and </a:t>
            </a:r>
            <a:r>
              <a:rPr lang="en-GB" dirty="0" err="1"/>
              <a:t>SQLAlchemy</a:t>
            </a:r>
            <a:r>
              <a:rPr lang="en-GB" dirty="0"/>
              <a:t> handles ORM. The app exposes REST endpoints tested using Postman for performance and correctness.</a:t>
            </a:r>
          </a:p>
        </p:txBody>
      </p:sp>
      <p:sp>
        <p:nvSpPr>
          <p:cNvPr id="142" name="Google Shape;142;g3a02e1ac065_0_41">
            <a:extLst>
              <a:ext uri="{FF2B5EF4-FFF2-40B4-BE49-F238E27FC236}">
                <a16:creationId xmlns:a16="http://schemas.microsoft.com/office/drawing/2014/main" id="{74625F9F-8672-1D86-7E32-80DAB5E79BC5}"/>
              </a:ext>
            </a:extLst>
          </p:cNvPr>
          <p:cNvSpPr txBox="1"/>
          <p:nvPr/>
        </p:nvSpPr>
        <p:spPr>
          <a:xfrm>
            <a:off x="3901148" y="656275"/>
            <a:ext cx="3712800" cy="95406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1" dirty="0">
                <a:latin typeface="Times New Roman"/>
                <a:ea typeface="Times New Roman"/>
                <a:cs typeface="Times New Roman"/>
                <a:sym typeface="Times New Roman"/>
              </a:rPr>
              <a:t>Backend &amp; API Integration</a:t>
            </a: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8294570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9">
          <a:extLst>
            <a:ext uri="{FF2B5EF4-FFF2-40B4-BE49-F238E27FC236}">
              <a16:creationId xmlns:a16="http://schemas.microsoft.com/office/drawing/2014/main" id="{9476A9F5-6F0C-A962-A9A8-3C65D0013F8C}"/>
            </a:ext>
          </a:extLst>
        </p:cNvPr>
        <p:cNvGrpSpPr/>
        <p:nvPr/>
      </p:nvGrpSpPr>
      <p:grpSpPr>
        <a:xfrm>
          <a:off x="0" y="0"/>
          <a:ext cx="0" cy="0"/>
          <a:chOff x="0" y="0"/>
          <a:chExt cx="0" cy="0"/>
        </a:xfrm>
      </p:grpSpPr>
      <p:sp>
        <p:nvSpPr>
          <p:cNvPr id="140" name="Google Shape;140;g3a02e1ac065_0_41">
            <a:extLst>
              <a:ext uri="{FF2B5EF4-FFF2-40B4-BE49-F238E27FC236}">
                <a16:creationId xmlns:a16="http://schemas.microsoft.com/office/drawing/2014/main" id="{6BAC0176-02C3-097F-F06D-175DCF271315}"/>
              </a:ext>
            </a:extLst>
          </p:cNvPr>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13</a:t>
            </a:fld>
            <a:endParaRPr/>
          </a:p>
        </p:txBody>
      </p:sp>
      <p:sp>
        <p:nvSpPr>
          <p:cNvPr id="141" name="Google Shape;141;g3a02e1ac065_0_41">
            <a:extLst>
              <a:ext uri="{FF2B5EF4-FFF2-40B4-BE49-F238E27FC236}">
                <a16:creationId xmlns:a16="http://schemas.microsoft.com/office/drawing/2014/main" id="{A8739D1E-E3D6-74CB-74E2-F341F9B8EA3D}"/>
              </a:ext>
            </a:extLst>
          </p:cNvPr>
          <p:cNvSpPr txBox="1">
            <a:spLocks noGrp="1"/>
          </p:cNvSpPr>
          <p:nvPr>
            <p:ph type="body" idx="1"/>
          </p:nvPr>
        </p:nvSpPr>
        <p:spPr>
          <a:xfrm>
            <a:off x="152400" y="1117703"/>
            <a:ext cx="11887200" cy="4351200"/>
          </a:xfrm>
          <a:prstGeom prst="rect">
            <a:avLst/>
          </a:prstGeom>
        </p:spPr>
        <p:txBody>
          <a:bodyPr spcFirstLastPara="1" wrap="square" lIns="91425" tIns="45700" rIns="91425" bIns="45700" anchor="t" anchorCtr="0">
            <a:noAutofit/>
          </a:bodyPr>
          <a:lstStyle/>
          <a:p>
            <a:pPr marL="50800" indent="0">
              <a:buNone/>
            </a:pPr>
            <a:r>
              <a:rPr lang="en-GB" dirty="0"/>
              <a:t>API and functional testing were performed using </a:t>
            </a:r>
            <a:r>
              <a:rPr lang="en-GB" b="1" dirty="0"/>
              <a:t>Postman</a:t>
            </a:r>
            <a:r>
              <a:rPr lang="en-GB" dirty="0"/>
              <a:t> to verify endpoints such as login, registration, and service booking. Flask’s built-in test client and assertions were also used to simulate user interactions. Each test ensured that responses, status codes, and database updates worked as expected before deployment.</a:t>
            </a:r>
          </a:p>
          <a:p>
            <a:r>
              <a:rPr lang="en-GB" sz="2000" dirty="0"/>
              <a:t>Testing was done to verify that all features in the application work correctly and handle errors properly.</a:t>
            </a:r>
          </a:p>
          <a:p>
            <a:r>
              <a:rPr lang="en-GB" sz="2000" dirty="0"/>
              <a:t>We used Postman to test all Flask API routes such as Register, Login, Booking, Complaints, and Admin Dashboard.</a:t>
            </a:r>
          </a:p>
          <a:p>
            <a:r>
              <a:rPr lang="en-GB" sz="2000" dirty="0"/>
              <a:t>Each endpoint was tested for correct request type (GET/POST) and response status codes (200, 302, 400, etc.).</a:t>
            </a:r>
          </a:p>
          <a:p>
            <a:r>
              <a:rPr lang="en-GB" sz="2000" dirty="0"/>
              <a:t>Verified that data flows correctly between frontend, backend, and database.</a:t>
            </a:r>
          </a:p>
          <a:p>
            <a:r>
              <a:rPr lang="en-GB" sz="2000" dirty="0"/>
              <a:t>Flask’s built-in framework testing ensured routes, sessions, and database operations run smoothly.</a:t>
            </a:r>
          </a:p>
          <a:p>
            <a:r>
              <a:rPr lang="en-GB" sz="2000" dirty="0"/>
              <a:t>Overall testing improved performance</a:t>
            </a:r>
            <a:r>
              <a:rPr lang="en-GB" dirty="0"/>
              <a:t>, </a:t>
            </a:r>
            <a:r>
              <a:rPr lang="en-GB" sz="2000" dirty="0"/>
              <a:t>reliability, and user experience of the application.</a:t>
            </a:r>
          </a:p>
        </p:txBody>
      </p:sp>
      <p:sp>
        <p:nvSpPr>
          <p:cNvPr id="142" name="Google Shape;142;g3a02e1ac065_0_41">
            <a:extLst>
              <a:ext uri="{FF2B5EF4-FFF2-40B4-BE49-F238E27FC236}">
                <a16:creationId xmlns:a16="http://schemas.microsoft.com/office/drawing/2014/main" id="{1C965516-2452-1122-B033-29DAD2476C82}"/>
              </a:ext>
            </a:extLst>
          </p:cNvPr>
          <p:cNvSpPr txBox="1"/>
          <p:nvPr/>
        </p:nvSpPr>
        <p:spPr>
          <a:xfrm>
            <a:off x="3891316" y="0"/>
            <a:ext cx="3712800" cy="95406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1" dirty="0">
                <a:latin typeface="Times New Roman"/>
                <a:ea typeface="Times New Roman"/>
                <a:cs typeface="Times New Roman"/>
                <a:sym typeface="Times New Roman"/>
              </a:rPr>
              <a:t>Testing Framework and API Testing</a:t>
            </a: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37896045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9">
          <a:extLst>
            <a:ext uri="{FF2B5EF4-FFF2-40B4-BE49-F238E27FC236}">
              <a16:creationId xmlns:a16="http://schemas.microsoft.com/office/drawing/2014/main" id="{04FA808C-E09F-DC88-EDE1-A9CEABEEF945}"/>
            </a:ext>
          </a:extLst>
        </p:cNvPr>
        <p:cNvGrpSpPr/>
        <p:nvPr/>
      </p:nvGrpSpPr>
      <p:grpSpPr>
        <a:xfrm>
          <a:off x="0" y="0"/>
          <a:ext cx="0" cy="0"/>
          <a:chOff x="0" y="0"/>
          <a:chExt cx="0" cy="0"/>
        </a:xfrm>
      </p:grpSpPr>
      <p:sp>
        <p:nvSpPr>
          <p:cNvPr id="140" name="Google Shape;140;g3a02e1ac065_0_41">
            <a:extLst>
              <a:ext uri="{FF2B5EF4-FFF2-40B4-BE49-F238E27FC236}">
                <a16:creationId xmlns:a16="http://schemas.microsoft.com/office/drawing/2014/main" id="{2247E0C5-2E48-F59D-45C7-2CBCF6C00782}"/>
              </a:ext>
            </a:extLst>
          </p:cNvPr>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14</a:t>
            </a:fld>
            <a:endParaRPr/>
          </a:p>
        </p:txBody>
      </p:sp>
      <p:sp>
        <p:nvSpPr>
          <p:cNvPr id="141" name="Google Shape;141;g3a02e1ac065_0_41">
            <a:extLst>
              <a:ext uri="{FF2B5EF4-FFF2-40B4-BE49-F238E27FC236}">
                <a16:creationId xmlns:a16="http://schemas.microsoft.com/office/drawing/2014/main" id="{7AEC9D57-AD55-08F2-ACB0-D24000D8326F}"/>
              </a:ext>
            </a:extLst>
          </p:cNvPr>
          <p:cNvSpPr txBox="1">
            <a:spLocks noGrp="1"/>
          </p:cNvSpPr>
          <p:nvPr>
            <p:ph type="body" idx="1"/>
          </p:nvPr>
        </p:nvSpPr>
        <p:spPr>
          <a:xfrm>
            <a:off x="189186" y="1825625"/>
            <a:ext cx="11887200" cy="4351200"/>
          </a:xfrm>
          <a:prstGeom prst="rect">
            <a:avLst/>
          </a:prstGeom>
        </p:spPr>
        <p:txBody>
          <a:bodyPr spcFirstLastPara="1" wrap="square" lIns="91425" tIns="45700" rIns="91425" bIns="45700" anchor="t" anchorCtr="0">
            <a:noAutofit/>
          </a:bodyPr>
          <a:lstStyle/>
          <a:p>
            <a:pPr marL="50800" indent="0">
              <a:buNone/>
            </a:pPr>
            <a:r>
              <a:rPr lang="en-GB" dirty="0"/>
              <a:t>The project was deployed on </a:t>
            </a:r>
            <a:r>
              <a:rPr lang="en-GB" b="1" dirty="0"/>
              <a:t>Render</a:t>
            </a:r>
            <a:r>
              <a:rPr lang="en-GB" dirty="0"/>
              <a:t>, a cloud hosting platform. The backend runs using </a:t>
            </a:r>
            <a:r>
              <a:rPr lang="en-GB" b="1" dirty="0" err="1"/>
              <a:t>Gunicorn</a:t>
            </a:r>
            <a:r>
              <a:rPr lang="en-GB" dirty="0"/>
              <a:t> for production-grade performance. The database (</a:t>
            </a:r>
            <a:r>
              <a:rPr lang="en-GB" dirty="0" err="1"/>
              <a:t>local_services.db</a:t>
            </a:r>
            <a:r>
              <a:rPr lang="en-GB" dirty="0"/>
              <a:t>) is initialized automatically on deployment. Render allows live URL access, continuous deployment from GitHub, and scalability for real-time user interaction.</a:t>
            </a:r>
          </a:p>
        </p:txBody>
      </p:sp>
      <p:sp>
        <p:nvSpPr>
          <p:cNvPr id="142" name="Google Shape;142;g3a02e1ac065_0_41">
            <a:extLst>
              <a:ext uri="{FF2B5EF4-FFF2-40B4-BE49-F238E27FC236}">
                <a16:creationId xmlns:a16="http://schemas.microsoft.com/office/drawing/2014/main" id="{85C0F2A1-25E9-A789-F60C-1E67706A696C}"/>
              </a:ext>
            </a:extLst>
          </p:cNvPr>
          <p:cNvSpPr txBox="1"/>
          <p:nvPr/>
        </p:nvSpPr>
        <p:spPr>
          <a:xfrm>
            <a:off x="3901148" y="656275"/>
            <a:ext cx="3712800" cy="95406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1" dirty="0">
                <a:latin typeface="Times New Roman"/>
                <a:ea typeface="Times New Roman"/>
                <a:cs typeface="Times New Roman"/>
                <a:sym typeface="Times New Roman"/>
              </a:rPr>
              <a:t>Hosting the Web Application</a:t>
            </a: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9568393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9">
          <a:extLst>
            <a:ext uri="{FF2B5EF4-FFF2-40B4-BE49-F238E27FC236}">
              <a16:creationId xmlns:a16="http://schemas.microsoft.com/office/drawing/2014/main" id="{7EE4F6CC-8F40-C6CB-97C8-984520A2D7A2}"/>
            </a:ext>
          </a:extLst>
        </p:cNvPr>
        <p:cNvGrpSpPr/>
        <p:nvPr/>
      </p:nvGrpSpPr>
      <p:grpSpPr>
        <a:xfrm>
          <a:off x="0" y="0"/>
          <a:ext cx="0" cy="0"/>
          <a:chOff x="0" y="0"/>
          <a:chExt cx="0" cy="0"/>
        </a:xfrm>
      </p:grpSpPr>
      <p:sp>
        <p:nvSpPr>
          <p:cNvPr id="140" name="Google Shape;140;g3a02e1ac065_0_41">
            <a:extLst>
              <a:ext uri="{FF2B5EF4-FFF2-40B4-BE49-F238E27FC236}">
                <a16:creationId xmlns:a16="http://schemas.microsoft.com/office/drawing/2014/main" id="{91A098AE-40BB-4777-CD4C-2B5C16999220}"/>
              </a:ext>
            </a:extLst>
          </p:cNvPr>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t" anchorCtr="0">
            <a:noAutofit/>
          </a:bodyPr>
          <a:lstStyle/>
          <a:p>
            <a:pPr marL="0" lvl="0" indent="0" algn="r" rtl="0">
              <a:spcBef>
                <a:spcPts val="0"/>
              </a:spcBef>
              <a:spcAft>
                <a:spcPts val="0"/>
              </a:spcAft>
              <a:buNone/>
            </a:pPr>
            <a:fld id="{00000000-1234-1234-1234-123412341234}" type="slidenum">
              <a:rPr lang="en-US"/>
              <a:t>15</a:t>
            </a:fld>
            <a:endParaRPr/>
          </a:p>
        </p:txBody>
      </p:sp>
      <p:sp>
        <p:nvSpPr>
          <p:cNvPr id="141" name="Google Shape;141;g3a02e1ac065_0_41">
            <a:extLst>
              <a:ext uri="{FF2B5EF4-FFF2-40B4-BE49-F238E27FC236}">
                <a16:creationId xmlns:a16="http://schemas.microsoft.com/office/drawing/2014/main" id="{3E2AC4C0-3FC4-EA05-A73E-253802858B41}"/>
              </a:ext>
            </a:extLst>
          </p:cNvPr>
          <p:cNvSpPr txBox="1">
            <a:spLocks noGrp="1"/>
          </p:cNvSpPr>
          <p:nvPr>
            <p:ph type="body" idx="1"/>
          </p:nvPr>
        </p:nvSpPr>
        <p:spPr>
          <a:xfrm>
            <a:off x="189186" y="1825625"/>
            <a:ext cx="11887200" cy="4351200"/>
          </a:xfrm>
          <a:prstGeom prst="rect">
            <a:avLst/>
          </a:prstGeom>
        </p:spPr>
        <p:txBody>
          <a:bodyPr spcFirstLastPara="1" wrap="square" lIns="91425" tIns="45700" rIns="91425" bIns="45700" anchor="t" anchorCtr="0">
            <a:noAutofit/>
          </a:bodyPr>
          <a:lstStyle/>
          <a:p>
            <a:pPr marL="50800" indent="0">
              <a:buNone/>
            </a:pPr>
            <a:r>
              <a:rPr lang="en-GB" dirty="0" err="1"/>
              <a:t>LocalLink</a:t>
            </a:r>
            <a:r>
              <a:rPr lang="en-GB" dirty="0"/>
              <a:t> demonstrates how modern full-stack applications integrate backend logic, frontend UI, and database operations into one cohesive system. The use of Git, UML diagrams, API testing, and cloud hosting showcases professional software engineering workflow, making it a complete academic and practical project.</a:t>
            </a:r>
          </a:p>
        </p:txBody>
      </p:sp>
      <p:sp>
        <p:nvSpPr>
          <p:cNvPr id="142" name="Google Shape;142;g3a02e1ac065_0_41">
            <a:extLst>
              <a:ext uri="{FF2B5EF4-FFF2-40B4-BE49-F238E27FC236}">
                <a16:creationId xmlns:a16="http://schemas.microsoft.com/office/drawing/2014/main" id="{24146F7E-1BD9-8365-D785-90E4DDF216BD}"/>
              </a:ext>
            </a:extLst>
          </p:cNvPr>
          <p:cNvSpPr txBox="1"/>
          <p:nvPr/>
        </p:nvSpPr>
        <p:spPr>
          <a:xfrm>
            <a:off x="3901148" y="656275"/>
            <a:ext cx="3712800"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1" dirty="0">
                <a:latin typeface="Times New Roman"/>
                <a:ea typeface="Times New Roman"/>
                <a:cs typeface="Times New Roman"/>
                <a:sym typeface="Times New Roman"/>
              </a:rPr>
              <a:t>Conclusion</a:t>
            </a:r>
            <a:endParaRPr sz="140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3412556641"/>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1293</TotalTime>
  <Words>777</Words>
  <Application>Microsoft Office PowerPoint</Application>
  <PresentationFormat>Widescreen</PresentationFormat>
  <Paragraphs>88</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Mahadevaswamy G K</dc:creator>
  <cp:lastModifiedBy>Aneesh Adithya SR</cp:lastModifiedBy>
  <cp:revision>9</cp:revision>
  <dcterms:created xsi:type="dcterms:W3CDTF">2023-06-02T05:30:25Z</dcterms:created>
  <dcterms:modified xsi:type="dcterms:W3CDTF">2025-11-13T09:39:28Z</dcterms:modified>
</cp:coreProperties>
</file>